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091352-605A-441F-AC0D-20D2811EF100}">
  <a:tblStyle styleId="{E1091352-605A-441F-AC0D-20D2811EF1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3c83525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b3c8352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3c83525d_11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b3c83525d_11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3c83525d_11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3c83525d_11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3c83525d_11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b3c83525d_11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3c83525d_11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b3c83525d_11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3c83525d_11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3c83525d_11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3c83525d_11_1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3c83525d_11_1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3c83525d_11_1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3c83525d_11_1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3c83525d_11_1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b3c83525d_11_1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b3c83525d_11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b3c83525d_11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Team B2 – Leonardo Da Pinchy</a:t>
            </a:r>
            <a:endParaRPr/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2423175" y="1328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chemeClr val="lt1"/>
                </a:highlight>
              </a:rPr>
              <a:t>Bryan Hong, Aaron Tang, Jonathan Waller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`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5972" y="1651495"/>
            <a:ext cx="8560800" cy="33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your 1</a:t>
            </a:r>
            <a:r>
              <a:rPr lang="en">
                <a:solidFill>
                  <a:schemeClr val="dk1"/>
                </a:solidFill>
              </a:rPr>
              <a:t>0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slides after this slide… [remember, 10 min talk + 2 min Q/A]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more information about formatting or importing slides see: 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sng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https://gsuite.google.com/learning-center/products/slides/get-started/</a:t>
            </a:r>
            <a:endParaRPr b="0" i="0" sz="1400" u="sng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sure to cover 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(refer to the Proposal Presentation Guidance):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                                   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Who is your customer, what product do they want to buy?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Use-Case Requirements            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What do they expect your product to do? [Answer this Quantitavely]</a:t>
            </a:r>
            <a:endParaRPr/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Challenges                 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What do you need to technically achieve so your product can meet these requirements?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Approach                      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Show us step by step what your proposed solution path(s) looks like – incorporate flow diagrams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Testing, Verification and Metrics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Detail your testing &amp; verification plan (and how you will measure &amp; verify the results) of your product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 and Division of Labor       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Technical Task List to build your proposed system, WHO is going to do WHAT in your team?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                                     </a:t>
            </a: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Gantt Chart (task timeline, demo system/components, MVP, stretch goal, include slack time)</a:t>
            </a:r>
            <a:endParaRPr/>
          </a:p>
          <a:p>
            <a:pPr indent="-952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that this slide already works as a introduction slide so use your first slide wisely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005321" y="4815678"/>
            <a:ext cx="307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Remember – Relevant figures (and tables) can be worth </a:t>
            </a:r>
            <a:b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“a thousand words”!</a:t>
            </a:r>
            <a:endParaRPr/>
          </a:p>
        </p:txBody>
      </p:sp>
      <p:pic>
        <p:nvPicPr>
          <p:cNvPr descr="No photo description available."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7730" y="14642"/>
            <a:ext cx="3419470" cy="1932849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ctr" dir="2040000" dist="50800" sy="101000">
              <a:srgbClr val="000000">
                <a:alpha val="7804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337700" y="967200"/>
            <a:ext cx="8485800" cy="3972300"/>
          </a:xfrm>
          <a:prstGeom prst="roundRect">
            <a:avLst>
              <a:gd fmla="val 5886" name="adj"/>
            </a:avLst>
          </a:prstGeom>
          <a:solidFill>
            <a:srgbClr val="F7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highlight>
                <a:schemeClr val="accen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75800" y="4393275"/>
            <a:ext cx="374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descr="Graphic designer working on digital tablet Creative workplace. (Provided by Getty Images)"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800" y="2508275"/>
            <a:ext cx="3310561" cy="22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475800" y="363825"/>
            <a:ext cx="81411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User Story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Digital artist and business owner Leonardo creates custom ceramic mugs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Leonardo makes his designs digitally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Redoing every design on each mug is time consuming at scale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He wants a robotic solution that allows him to produce mugs en masse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475" y="2583437"/>
            <a:ext cx="2197850" cy="205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265600" y="358300"/>
            <a:ext cx="5863200" cy="4389900"/>
          </a:xfrm>
          <a:prstGeom prst="roundRect">
            <a:avLst>
              <a:gd fmla="val 5886" name="adj"/>
            </a:avLst>
          </a:prstGeom>
          <a:solidFill>
            <a:srgbClr val="F7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highlight>
                <a:schemeClr val="accen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26750" y="169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41150" y="391025"/>
            <a:ext cx="56547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Use Case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Reproducing digital art on non-planar surfaces where using standard CNC machines with 3 DoF is difficult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Often, problems with printing are: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Lack of stroke depth, colors, and fluidness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Robots have a difficult time adjusting to surfaces it’s not familiar with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4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Our robot should successfully replicate a piece of submitted art on a fixed non-planar surface whose dimensions we know.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27399" l="0" r="0" t="0"/>
          <a:stretch/>
        </p:blipFill>
        <p:spPr>
          <a:xfrm>
            <a:off x="6626350" y="391025"/>
            <a:ext cx="2057413" cy="22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4">
            <a:alphaModFix/>
          </a:blip>
          <a:srcRect b="0" l="16359" r="18878" t="0"/>
          <a:stretch/>
        </p:blipFill>
        <p:spPr>
          <a:xfrm>
            <a:off x="6626350" y="2792550"/>
            <a:ext cx="2057426" cy="195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16"/>
          <p:cNvGraphicFramePr/>
          <p:nvPr/>
        </p:nvGraphicFramePr>
        <p:xfrm>
          <a:off x="214595" y="1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{E1091352-605A-441F-AC0D-20D2811EF100}</a:tableStyleId>
              </a:tblPr>
              <a:tblGrid>
                <a:gridCol w="1569700"/>
                <a:gridCol w="2242450"/>
                <a:gridCol w="2496575"/>
              </a:tblGrid>
              <a:tr h="8286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Use-Case Requirements (1/2)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381000" marR="95250" marL="95250"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Target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specifications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 surface; shape, curves, and dimensions known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Keeps the testing surface bounded.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area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Predefined, with front section reachable only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Avoid collisions and unreachable back surfaces.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surface alignment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Camera + fixture reference; set distance from target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the target consistently in a fixed location in front of the robot.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Working area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0.4 × 0.4 × 0.4 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 space for the target, holder and pen motion.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pic>
        <p:nvPicPr>
          <p:cNvPr descr="Modern Robotic Arm For Manufacturing Products (Provided by Getty Images)" id="92" name="Google Shape;92;p16"/>
          <p:cNvPicPr preferRelativeResize="0"/>
          <p:nvPr/>
        </p:nvPicPr>
        <p:blipFill rotWithShape="1">
          <a:blip r:embed="rId3">
            <a:alphaModFix/>
          </a:blip>
          <a:srcRect b="0" l="11479" r="52580" t="0"/>
          <a:stretch/>
        </p:blipFill>
        <p:spPr>
          <a:xfrm>
            <a:off x="6762675" y="447600"/>
            <a:ext cx="2159549" cy="424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17"/>
          <p:cNvGraphicFramePr/>
          <p:nvPr/>
        </p:nvGraphicFramePr>
        <p:xfrm>
          <a:off x="51622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{E1091352-605A-441F-AC0D-20D2811EF100}</a:tableStyleId>
              </a:tblPr>
              <a:tblGrid>
                <a:gridCol w="2000250"/>
                <a:gridCol w="2857500"/>
                <a:gridCol w="3181350"/>
              </a:tblGrid>
              <a:tr h="8286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Use-Case Requirements (2/2)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381000" marR="95250" marL="95250"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C4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Target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C4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C4B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format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SVG vector paths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Preserve digital strokes for mapping onto the curved surface.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Line accuracy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≤2.00mm surface-path error; statistic TBD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 outlines useful for subsequent carving or painting.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 limits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colors; 50 strokes; 100 cm combined path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Support small patterns while bounding job complexity.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Pen orientation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Proposed 6-DOF arm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 pen position and angle along the known curve.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18"/>
          <p:cNvGraphicFramePr/>
          <p:nvPr/>
        </p:nvGraphicFramePr>
        <p:xfrm>
          <a:off x="548640" y="15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{E1091352-605A-441F-AC0D-20D2811EF100}</a:tableStyleId>
              </a:tblPr>
              <a:tblGrid>
                <a:gridCol w="2209800"/>
                <a:gridCol w="2057400"/>
                <a:gridCol w="3762375"/>
              </a:tblGrid>
              <a:tr h="7429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Challenges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381000" marR="91425" marL="91425"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Challenge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Proposed response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Weight of arm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Arm needs needs to be able to draw without falling over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Install heavy counterweights at the base, or bolt the arm to a rigid fixture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position / rotation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Consistent design detection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location + April tag for manual calibration of (0, 0)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Marker contact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Maintain contact during curved motion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Spring-loaded holder; force sensing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Marker pickup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 least 90% swap success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rack; gripper; tip calibration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Reach / orientation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Reach / handle clearance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Front arc + collision checks; rotation later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Degrees of Freedom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6-DOF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curved path; adjust pen angle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pic>
        <p:nvPicPr>
          <p:cNvPr descr="Robot holding computer circuit board (Provided by Getty Images)" id="103" name="Google Shape;103;p18"/>
          <p:cNvPicPr preferRelativeResize="0"/>
          <p:nvPr/>
        </p:nvPicPr>
        <p:blipFill rotWithShape="1">
          <a:blip r:embed="rId3">
            <a:alphaModFix/>
          </a:blip>
          <a:srcRect b="23187" l="0" r="0" t="15244"/>
          <a:stretch/>
        </p:blipFill>
        <p:spPr>
          <a:xfrm>
            <a:off x="6714588" y="242762"/>
            <a:ext cx="2345426" cy="9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4752439" y="718700"/>
            <a:ext cx="4244400" cy="4424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Jetson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Nano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21225" y="718700"/>
            <a:ext cx="4450800" cy="4424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External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Computer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5056975" y="1587175"/>
            <a:ext cx="3436500" cy="34287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 Arm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316050" y="2329700"/>
            <a:ext cx="4102200" cy="26862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 Arm Path Construction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316050" y="891875"/>
            <a:ext cx="2820300" cy="1104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User’s Interface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48650" y="155450"/>
            <a:ext cx="39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Proposed Solution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2056208" y="2868894"/>
            <a:ext cx="1645200" cy="7110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Scale and transpose 2d points onto the surface in 3d points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41185" y="2868904"/>
            <a:ext cx="1339500" cy="3906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Surface position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and dimensions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8356775" y="4063276"/>
            <a:ext cx="730200" cy="218400"/>
          </a:xfrm>
          <a:prstGeom prst="rect">
            <a:avLst/>
          </a:prstGeom>
          <a:solidFill>
            <a:srgbClr val="CFE2F3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Inputs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8356775" y="4334271"/>
            <a:ext cx="730200" cy="218400"/>
          </a:xfrm>
          <a:prstGeom prst="rect">
            <a:avLst/>
          </a:prstGeom>
          <a:solidFill>
            <a:srgbClr val="D9EAD3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8356775" y="4876262"/>
            <a:ext cx="730200" cy="218400"/>
          </a:xfrm>
          <a:prstGeom prst="rect">
            <a:avLst/>
          </a:prstGeom>
          <a:solidFill>
            <a:srgbClr val="FCE5CD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8356775" y="4605266"/>
            <a:ext cx="730200" cy="218400"/>
          </a:xfrm>
          <a:prstGeom prst="rect">
            <a:avLst/>
          </a:prstGeom>
          <a:solidFill>
            <a:schemeClr val="accent6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41168" y="3412205"/>
            <a:ext cx="1339500" cy="3060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Marker positions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1837425" y="1413630"/>
            <a:ext cx="1141200" cy="3471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Browser UI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41175" y="1413630"/>
            <a:ext cx="1141200" cy="3471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User Image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" name="Google Shape;123;p19"/>
          <p:cNvCxnSpPr>
            <a:stCxn id="122" idx="2"/>
          </p:cNvCxnSpPr>
          <p:nvPr/>
        </p:nvCxnSpPr>
        <p:spPr>
          <a:xfrm>
            <a:off x="1011775" y="1760730"/>
            <a:ext cx="7800" cy="4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9"/>
          <p:cNvCxnSpPr/>
          <p:nvPr/>
        </p:nvCxnSpPr>
        <p:spPr>
          <a:xfrm>
            <a:off x="1019600" y="2158275"/>
            <a:ext cx="20025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9"/>
          <p:cNvCxnSpPr>
            <a:endCxn id="114" idx="0"/>
          </p:cNvCxnSpPr>
          <p:nvPr/>
        </p:nvCxnSpPr>
        <p:spPr>
          <a:xfrm flipH="1">
            <a:off x="2878808" y="2168994"/>
            <a:ext cx="143100" cy="69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>
            <a:stCxn id="115" idx="3"/>
            <a:endCxn id="114" idx="1"/>
          </p:cNvCxnSpPr>
          <p:nvPr/>
        </p:nvCxnSpPr>
        <p:spPr>
          <a:xfrm>
            <a:off x="1780685" y="3064204"/>
            <a:ext cx="275400" cy="16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>
            <a:stCxn id="122" idx="3"/>
            <a:endCxn id="121" idx="1"/>
          </p:cNvCxnSpPr>
          <p:nvPr/>
        </p:nvCxnSpPr>
        <p:spPr>
          <a:xfrm>
            <a:off x="1582375" y="1587180"/>
            <a:ext cx="25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9"/>
          <p:cNvSpPr/>
          <p:nvPr/>
        </p:nvSpPr>
        <p:spPr>
          <a:xfrm>
            <a:off x="1244281" y="3967950"/>
            <a:ext cx="2154600" cy="9066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Inverse kinematics + Cartesian Path Interpolation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(Create the current drawings full path)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" name="Google Shape;129;p19"/>
          <p:cNvCxnSpPr>
            <a:stCxn id="120" idx="2"/>
            <a:endCxn id="128" idx="0"/>
          </p:cNvCxnSpPr>
          <p:nvPr/>
        </p:nvCxnSpPr>
        <p:spPr>
          <a:xfrm>
            <a:off x="1110918" y="3718205"/>
            <a:ext cx="1210800" cy="2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>
            <a:stCxn id="114" idx="2"/>
            <a:endCxn id="128" idx="0"/>
          </p:cNvCxnSpPr>
          <p:nvPr/>
        </p:nvCxnSpPr>
        <p:spPr>
          <a:xfrm flipH="1">
            <a:off x="2321708" y="3579894"/>
            <a:ext cx="557100" cy="3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9"/>
          <p:cNvCxnSpPr>
            <a:stCxn id="121" idx="3"/>
          </p:cNvCxnSpPr>
          <p:nvPr/>
        </p:nvCxnSpPr>
        <p:spPr>
          <a:xfrm>
            <a:off x="2978625" y="1587180"/>
            <a:ext cx="1136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>
            <a:off x="4115225" y="1606250"/>
            <a:ext cx="10800" cy="28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9"/>
          <p:cNvSpPr/>
          <p:nvPr/>
        </p:nvSpPr>
        <p:spPr>
          <a:xfrm>
            <a:off x="5423150" y="854125"/>
            <a:ext cx="16452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External Cameras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" name="Google Shape;134;p19"/>
          <p:cNvCxnSpPr>
            <a:stCxn id="133" idx="0"/>
          </p:cNvCxnSpPr>
          <p:nvPr/>
        </p:nvCxnSpPr>
        <p:spPr>
          <a:xfrm flipH="1" rot="10800000">
            <a:off x="6245750" y="610525"/>
            <a:ext cx="1800" cy="2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9"/>
          <p:cNvCxnSpPr/>
          <p:nvPr/>
        </p:nvCxnSpPr>
        <p:spPr>
          <a:xfrm flipH="1">
            <a:off x="251150" y="621300"/>
            <a:ext cx="6007200" cy="3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9"/>
          <p:cNvCxnSpPr/>
          <p:nvPr/>
        </p:nvCxnSpPr>
        <p:spPr>
          <a:xfrm>
            <a:off x="272750" y="653750"/>
            <a:ext cx="0" cy="24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9"/>
          <p:cNvCxnSpPr/>
          <p:nvPr/>
        </p:nvCxnSpPr>
        <p:spPr>
          <a:xfrm>
            <a:off x="272525" y="3077925"/>
            <a:ext cx="1845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9"/>
          <p:cNvSpPr/>
          <p:nvPr/>
        </p:nvSpPr>
        <p:spPr>
          <a:xfrm>
            <a:off x="6607875" y="3808500"/>
            <a:ext cx="1645200" cy="1104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Microcontroller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780075" y="3949850"/>
            <a:ext cx="1210800" cy="4923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Motor control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firmware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203388" y="4175100"/>
            <a:ext cx="1210800" cy="4923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ROS2 Path Execution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19"/>
          <p:cNvCxnSpPr>
            <a:endCxn id="140" idx="1"/>
          </p:cNvCxnSpPr>
          <p:nvPr/>
        </p:nvCxnSpPr>
        <p:spPr>
          <a:xfrm>
            <a:off x="3398888" y="4421250"/>
            <a:ext cx="18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>
            <a:stCxn id="140" idx="3"/>
            <a:endCxn id="139" idx="1"/>
          </p:cNvCxnSpPr>
          <p:nvPr/>
        </p:nvCxnSpPr>
        <p:spPr>
          <a:xfrm flipH="1" rot="10800000">
            <a:off x="6414188" y="4195950"/>
            <a:ext cx="3660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9"/>
          <p:cNvSpPr/>
          <p:nvPr/>
        </p:nvSpPr>
        <p:spPr>
          <a:xfrm>
            <a:off x="6890538" y="2584488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Stepper motor joints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300563" y="2584475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Servo motor gripper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513154" y="1791325"/>
            <a:ext cx="1210800" cy="347100"/>
          </a:xfrm>
          <a:prstGeom prst="rect">
            <a:avLst/>
          </a:prstGeom>
          <a:solidFill>
            <a:srgbClr val="FCE5CD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Robot execution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203388" y="3379775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Power Bank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" name="Google Shape;147;p19"/>
          <p:cNvCxnSpPr>
            <a:stCxn id="146" idx="0"/>
            <a:endCxn id="144" idx="2"/>
          </p:cNvCxnSpPr>
          <p:nvPr/>
        </p:nvCxnSpPr>
        <p:spPr>
          <a:xfrm flipH="1" rot="10800000">
            <a:off x="5808788" y="3076775"/>
            <a:ext cx="97200" cy="3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9"/>
          <p:cNvCxnSpPr>
            <a:stCxn id="144" idx="0"/>
            <a:endCxn id="145" idx="2"/>
          </p:cNvCxnSpPr>
          <p:nvPr/>
        </p:nvCxnSpPr>
        <p:spPr>
          <a:xfrm flipH="1" rot="10800000">
            <a:off x="5905963" y="2138375"/>
            <a:ext cx="12126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9"/>
          <p:cNvCxnSpPr>
            <a:stCxn id="143" idx="0"/>
            <a:endCxn id="145" idx="2"/>
          </p:cNvCxnSpPr>
          <p:nvPr/>
        </p:nvCxnSpPr>
        <p:spPr>
          <a:xfrm rot="10800000">
            <a:off x="7118538" y="2138388"/>
            <a:ext cx="3774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9"/>
          <p:cNvCxnSpPr>
            <a:stCxn id="139" idx="0"/>
            <a:endCxn id="143" idx="2"/>
          </p:cNvCxnSpPr>
          <p:nvPr/>
        </p:nvCxnSpPr>
        <p:spPr>
          <a:xfrm flipH="1" rot="10800000">
            <a:off x="7385475" y="3076850"/>
            <a:ext cx="110400" cy="8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9"/>
          <p:cNvCxnSpPr>
            <a:stCxn id="139" idx="0"/>
          </p:cNvCxnSpPr>
          <p:nvPr/>
        </p:nvCxnSpPr>
        <p:spPr>
          <a:xfrm rot="10800000">
            <a:off x="6530475" y="3094550"/>
            <a:ext cx="855000" cy="8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4771175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546500" y="165391"/>
            <a:ext cx="39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Testing and Verification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0"/>
          <p:cNvSpPr/>
          <p:nvPr/>
        </p:nvSpPr>
        <p:spPr>
          <a:xfrm rot="5400000">
            <a:off x="49881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9" name="Google Shape;159;p20"/>
          <p:cNvSpPr txBox="1"/>
          <p:nvPr>
            <p:ph idx="4294967295" type="title"/>
          </p:nvPr>
        </p:nvSpPr>
        <p:spPr>
          <a:xfrm>
            <a:off x="4884733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Coordinate Algorithm Testing</a:t>
            </a:r>
            <a:endParaRPr b="1" sz="1200"/>
          </a:p>
        </p:txBody>
      </p:sp>
      <p:sp>
        <p:nvSpPr>
          <p:cNvPr id="160" name="Google Shape;160;p20"/>
          <p:cNvSpPr txBox="1"/>
          <p:nvPr>
            <p:ph idx="4294967295" type="body"/>
          </p:nvPr>
        </p:nvSpPr>
        <p:spPr>
          <a:xfrm>
            <a:off x="4884733" y="2542668"/>
            <a:ext cx="1583400" cy="2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 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Have robot draw over predetermined printed image 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maximum error (mm) between printed and drawn image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error ≤ 2 mm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0"/>
          <p:cNvSpPr txBox="1"/>
          <p:nvPr>
            <p:ph idx="4294967295" type="title"/>
          </p:nvPr>
        </p:nvSpPr>
        <p:spPr>
          <a:xfrm>
            <a:off x="4964319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</a:t>
            </a:r>
            <a:endParaRPr b="1"/>
          </a:p>
        </p:txBody>
      </p:sp>
      <p:sp>
        <p:nvSpPr>
          <p:cNvPr id="162" name="Google Shape;162;p20"/>
          <p:cNvSpPr/>
          <p:nvPr/>
        </p:nvSpPr>
        <p:spPr>
          <a:xfrm>
            <a:off x="6980050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0"/>
          <p:cNvSpPr/>
          <p:nvPr/>
        </p:nvSpPr>
        <p:spPr>
          <a:xfrm rot="5400000">
            <a:off x="71970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4" name="Google Shape;164;p20"/>
          <p:cNvSpPr txBox="1"/>
          <p:nvPr>
            <p:ph idx="4294967295" type="title"/>
          </p:nvPr>
        </p:nvSpPr>
        <p:spPr>
          <a:xfrm>
            <a:off x="7093608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Pen Orientation</a:t>
            </a:r>
            <a:endParaRPr b="1" sz="1200"/>
          </a:p>
        </p:txBody>
      </p:sp>
      <p:sp>
        <p:nvSpPr>
          <p:cNvPr id="165" name="Google Shape;165;p20"/>
          <p:cNvSpPr txBox="1"/>
          <p:nvPr>
            <p:ph idx="4294967295" type="body"/>
          </p:nvPr>
        </p:nvSpPr>
        <p:spPr>
          <a:xfrm>
            <a:off x="7093600" y="2542675"/>
            <a:ext cx="1583400" cy="21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 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Test roll, pitch, and yaw DOFs while drawing on flat surface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maximum roll, pitch, and yaw angles  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yaw ≅ 60°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pitch ≅ 60°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roll  = 360°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p20"/>
          <p:cNvSpPr txBox="1"/>
          <p:nvPr>
            <p:ph idx="4294967295" type="title"/>
          </p:nvPr>
        </p:nvSpPr>
        <p:spPr>
          <a:xfrm>
            <a:off x="7173220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endParaRPr b="1"/>
          </a:p>
        </p:txBody>
      </p:sp>
      <p:sp>
        <p:nvSpPr>
          <p:cNvPr id="167" name="Google Shape;167;p20"/>
          <p:cNvSpPr/>
          <p:nvPr/>
        </p:nvSpPr>
        <p:spPr>
          <a:xfrm>
            <a:off x="2562300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0"/>
          <p:cNvSpPr/>
          <p:nvPr/>
        </p:nvSpPr>
        <p:spPr>
          <a:xfrm rot="5400000">
            <a:off x="27792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0"/>
          <p:cNvSpPr txBox="1"/>
          <p:nvPr>
            <p:ph idx="4294967295" type="title"/>
          </p:nvPr>
        </p:nvSpPr>
        <p:spPr>
          <a:xfrm>
            <a:off x="2675858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Marker ID and Selection</a:t>
            </a:r>
            <a:endParaRPr b="1" sz="1200"/>
          </a:p>
        </p:txBody>
      </p:sp>
      <p:sp>
        <p:nvSpPr>
          <p:cNvPr id="170" name="Google Shape;170;p20"/>
          <p:cNvSpPr txBox="1"/>
          <p:nvPr>
            <p:ph idx="4294967295" type="body"/>
          </p:nvPr>
        </p:nvSpPr>
        <p:spPr>
          <a:xfrm>
            <a:off x="2675850" y="2542675"/>
            <a:ext cx="1583400" cy="21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Use external camera + CV model to pick out desired marker color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accuracy of selecting correct color marker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accuracy ≥ 90%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" name="Google Shape;171;p20"/>
          <p:cNvSpPr txBox="1"/>
          <p:nvPr>
            <p:ph idx="4294967295" type="title"/>
          </p:nvPr>
        </p:nvSpPr>
        <p:spPr>
          <a:xfrm>
            <a:off x="2755420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endParaRPr b="1"/>
          </a:p>
        </p:txBody>
      </p:sp>
      <p:sp>
        <p:nvSpPr>
          <p:cNvPr id="172" name="Google Shape;172;p20"/>
          <p:cNvSpPr/>
          <p:nvPr/>
        </p:nvSpPr>
        <p:spPr>
          <a:xfrm>
            <a:off x="353425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0"/>
          <p:cNvSpPr/>
          <p:nvPr/>
        </p:nvSpPr>
        <p:spPr>
          <a:xfrm rot="5400000">
            <a:off x="5703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20"/>
          <p:cNvSpPr txBox="1"/>
          <p:nvPr>
            <p:ph idx="4294967295" type="title"/>
          </p:nvPr>
        </p:nvSpPr>
        <p:spPr>
          <a:xfrm>
            <a:off x="466983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Object/Surface Calibration</a:t>
            </a:r>
            <a:endParaRPr b="1" sz="1200"/>
          </a:p>
        </p:txBody>
      </p:sp>
      <p:sp>
        <p:nvSpPr>
          <p:cNvPr id="175" name="Google Shape;175;p20"/>
          <p:cNvSpPr txBox="1"/>
          <p:nvPr>
            <p:ph idx="4294967295" type="body"/>
          </p:nvPr>
        </p:nvSpPr>
        <p:spPr>
          <a:xfrm>
            <a:off x="466975" y="2542626"/>
            <a:ext cx="15834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 </a:t>
            </a: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Use AprilTags (QR codes) and external camera for calibration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error (cm) between calculated origin and intended origin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error ≤ 2 mm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0"/>
          <p:cNvSpPr txBox="1"/>
          <p:nvPr>
            <p:ph idx="4294967295" type="title"/>
          </p:nvPr>
        </p:nvSpPr>
        <p:spPr>
          <a:xfrm>
            <a:off x="546520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</a:t>
            </a:r>
            <a:endParaRPr b="1"/>
          </a:p>
        </p:txBody>
      </p:sp>
      <p:pic>
        <p:nvPicPr>
          <p:cNvPr descr="Abstract Modern tech of Programming code screen developer. (Provided by Getty Images)" id="177" name="Google Shape;177;p20"/>
          <p:cNvPicPr preferRelativeResize="0"/>
          <p:nvPr/>
        </p:nvPicPr>
        <p:blipFill rotWithShape="1">
          <a:blip r:embed="rId3">
            <a:alphaModFix/>
          </a:blip>
          <a:srcRect b="46936" l="0" r="0" t="0"/>
          <a:stretch/>
        </p:blipFill>
        <p:spPr>
          <a:xfrm>
            <a:off x="4680175" y="71424"/>
            <a:ext cx="4110377" cy="912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21"/>
          <p:cNvGraphicFramePr/>
          <p:nvPr/>
        </p:nvGraphicFramePr>
        <p:xfrm>
          <a:off x="661940" y="15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{E1091352-605A-441F-AC0D-20D2811EF100}</a:tableStyleId>
              </a:tblPr>
              <a:tblGrid>
                <a:gridCol w="2168125"/>
                <a:gridCol w="3595025"/>
                <a:gridCol w="2056950"/>
              </a:tblGrid>
              <a:tr h="7429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Tasks &amp; Division of Labor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381000" marR="91425" marL="91425"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Owner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Workstream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Deliverables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Jonathan Waller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Embedded / hardware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Arm, mug holder, gripper, controls; rotary stage later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Bryan Hong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Circuits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Power, drivers, sensor circuits, hardwired stop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Aaron Tang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Software / modeling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Mug alignment, curved SVG paths, kinematics, web UI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 three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Integration / tests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Mug drawing, placement and contact tests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152400" y="152400"/>
            <a:ext cx="86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Schedule &amp; Demonstration Milestones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75" y="874775"/>
            <a:ext cx="8474259" cy="413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