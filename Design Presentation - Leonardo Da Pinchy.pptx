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Nunito"/>
      <p:regular r:id="rId33"/>
      <p:bold r:id="rId34"/>
      <p:italic r:id="rId35"/>
      <p:boldItalic r:id="rId36"/>
    </p:embeddedFont>
    <p:embeddedFont>
      <p:font typeface="Merriweather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aron T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64EEAB-4C83-41F7-97F9-CF3475D21D7B}">
  <a:tblStyle styleId="{E164EEAB-4C83-41F7-97F9-CF3475D21D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045723F-B235-4DF3-BAD3-1C2D1E888A5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Robo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4.xml"/><Relationship Id="rId33" Type="http://schemas.openxmlformats.org/officeDocument/2006/relationships/font" Target="fonts/Nunito-regular.fntdata"/><Relationship Id="rId10" Type="http://schemas.openxmlformats.org/officeDocument/2006/relationships/slide" Target="slides/slide3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6.xml"/><Relationship Id="rId35" Type="http://schemas.openxmlformats.org/officeDocument/2006/relationships/font" Target="fonts/Nunito-italic.fntdata"/><Relationship Id="rId12" Type="http://schemas.openxmlformats.org/officeDocument/2006/relationships/slide" Target="slides/slide5.xml"/><Relationship Id="rId34" Type="http://schemas.openxmlformats.org/officeDocument/2006/relationships/font" Target="fonts/Nunito-bold.fntdata"/><Relationship Id="rId15" Type="http://schemas.openxmlformats.org/officeDocument/2006/relationships/slide" Target="slides/slide8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7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0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9.xml"/><Relationship Id="rId38" Type="http://schemas.openxmlformats.org/officeDocument/2006/relationships/font" Target="fonts/Merriweather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8T01:19:18.305">
    <p:pos x="124" y="470"/>
    <p:text>We are also basing it on a 6DoF robot design already, and reducing the task to 5 DOF does not reduce the number of actuators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3c83525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b3c8352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55f3a325e28fcd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55f3a325e28fcd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55f3a325e28fcd6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55f3a325e28fcd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5f3a325e28fcd6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5f3a325e28fcd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55f3a325e28fcd6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55f3a325e28fcd6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1fd8185adace9a86_2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1fd8185adace9a86_2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55f3a325e28fcd6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55f3a325e28fcd6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5f3a325e28fcd6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55f3a325e28fcd6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55f3a325e28fcd6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55f3a325e28fcd6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55f3a325e28fcd6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55f3a325e28fcd6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55f3a325e28fcd6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55f3a325e28fcd6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55f3a325e28fcd6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h55f3a325e28fcd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b3c83525d_11_1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b3c83525d_11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3c83525d_11_1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b3c83525d_11_1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b3c83525d_11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b3c83525d_11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3c83525d_11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b3c83525d_11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b3c83525d_11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b3c83525d_11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b3c83525d_11_1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b3c83525d_11_1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b3c83525d_11_1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b3c83525d_11_1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b3c83525d_11_1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b3c83525d_11_1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b3c83525d_11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b3c83525d_11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Relationship Id="rId11" Type="http://schemas.openxmlformats.org/officeDocument/2006/relationships/image" Target="../media/image8.png"/><Relationship Id="rId10" Type="http://schemas.openxmlformats.org/officeDocument/2006/relationships/image" Target="../media/image18.png"/><Relationship Id="rId12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20.jp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3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Team B2 – Leonardo Da Pinchy</a:t>
            </a:r>
            <a:endParaRPr/>
          </a:p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2423175" y="1328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chemeClr val="lt1"/>
                </a:highlight>
              </a:rPr>
              <a:t>Bryan Hong, Aaron Tang, </a:t>
            </a:r>
            <a:r>
              <a:rPr b="1" lang="en">
                <a:highlight>
                  <a:schemeClr val="lt1"/>
                </a:highlight>
              </a:rPr>
              <a:t>Jonathan Waller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`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5972" y="1651495"/>
            <a:ext cx="8560800" cy="339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Add your 10 slides after this slide… [remember, 10 min talk + 3 min Q/A]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For more information about formatting or importing slides see: </a:t>
            </a:r>
            <a:br>
              <a:rPr lang="en"/>
            </a:br>
            <a:r>
              <a:rPr lang="en" u="sng">
                <a:solidFill>
                  <a:srgbClr val="00FFFF"/>
                </a:solidFill>
              </a:rPr>
              <a:t>https://gsuite.google.com/learning-center/products/slides/get-started/</a:t>
            </a:r>
            <a:endParaRPr u="sng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Make sure to cover </a:t>
            </a:r>
            <a:br>
              <a:rPr lang="en"/>
            </a:br>
            <a:r>
              <a:rPr lang="en"/>
              <a:t>(refer to the Design Presentation Guidance):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Use Case &amp; Requirements         </a:t>
            </a:r>
            <a:r>
              <a:rPr lang="en" sz="1000"/>
              <a:t>- Remind us who is your customer, what product do they want to buy and quantitative reqs [keep it short]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Quantitative Design Reqs</a:t>
            </a:r>
            <a:r>
              <a:rPr lang="en" sz="1000"/>
              <a:t>             - Map quantitative use case to quantitative design requirements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Solution Approach                      </a:t>
            </a:r>
            <a:r>
              <a:rPr lang="en" sz="1000"/>
              <a:t>- Remind us of solutionn path(s) … and social, cultural, global .. factors; any changes since proposal ?</a:t>
            </a:r>
            <a:endParaRPr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Block Diagram</a:t>
            </a:r>
            <a:r>
              <a:rPr lang="en" sz="1000"/>
              <a:t>                                  - Detailed design: incorporate flow diagrams, state diagrams, protocols</a:t>
            </a:r>
            <a:endParaRPr/>
          </a:p>
          <a:p>
            <a:pPr indent="-171450" lvl="2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Implementation Plan                   </a:t>
            </a:r>
            <a:r>
              <a:rPr lang="en" sz="1000"/>
              <a:t>- include Design Trade Study(ies) here; what will YOU develop ? vs buy/download/reuse ?</a:t>
            </a:r>
            <a:endParaRPr sz="1000"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Testing, Verification and Metrics </a:t>
            </a:r>
            <a:r>
              <a:rPr lang="en" sz="1000"/>
              <a:t>- including quant metrics; how you will test and what is passing; failed tests ? Risk mitigation ?</a:t>
            </a:r>
            <a:endParaRPr sz="1200"/>
          </a:p>
          <a:p>
            <a:pPr indent="-1714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" sz="1200"/>
              <a:t>Project Management                   </a:t>
            </a:r>
            <a:r>
              <a:rPr lang="en" sz="1000"/>
              <a:t>- WHO is going to do WHAT and WHEN ?</a:t>
            </a:r>
            <a:br>
              <a:rPr lang="en" sz="1000"/>
            </a:br>
            <a:endParaRPr sz="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Consider that this slide already works as a introduction slide so use your first slide wisely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005321" y="4815678"/>
            <a:ext cx="307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Remember – Relevant figures (and tables) can be worth </a:t>
            </a:r>
            <a:b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“a thousand words”!</a:t>
            </a:r>
            <a:endParaRPr/>
          </a:p>
        </p:txBody>
      </p:sp>
      <p:pic>
        <p:nvPicPr>
          <p:cNvPr descr="No photo description available." id="68" name="Google Shape;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7730" y="14642"/>
            <a:ext cx="3419470" cy="1932849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ctr" dir="2040000" dist="50800" sy="101000">
              <a:srgbClr val="000000">
                <a:alpha val="7804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107400" y="744075"/>
            <a:ext cx="5211300" cy="1717200"/>
          </a:xfrm>
          <a:prstGeom prst="roundRect">
            <a:avLst>
              <a:gd fmla="val 5886" name="adj"/>
            </a:avLst>
          </a:prstGeom>
          <a:solidFill>
            <a:srgbClr val="F7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highlight>
                <a:schemeClr val="accen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52750" y="78075"/>
            <a:ext cx="5166000" cy="22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Use Case/Application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Transfer </a:t>
            </a:r>
            <a:r>
              <a:rPr b="1"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digital artwork</a:t>
            </a: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onto </a:t>
            </a:r>
            <a:r>
              <a:rPr b="1"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curved objects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Adapt drawing motion to changing surface orientation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Support </a:t>
            </a:r>
            <a:r>
              <a:rPr b="1"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low-volume, high-variation</a:t>
            </a: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custom artwork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53125"/>
            <a:ext cx="8839204" cy="111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 b="8695" l="25980" r="7795" t="25079"/>
          <a:stretch/>
        </p:blipFill>
        <p:spPr>
          <a:xfrm>
            <a:off x="5440650" y="182875"/>
            <a:ext cx="3520451" cy="2310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5"/>
          <p:cNvGraphicFramePr/>
          <p:nvPr/>
        </p:nvGraphicFramePr>
        <p:xfrm>
          <a:off x="237900" y="77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{E164EEAB-4C83-41F7-97F9-CF3475D21D7B}</a:tableStyleId>
              </a:tblPr>
              <a:tblGrid>
                <a:gridCol w="2081550"/>
                <a:gridCol w="2081550"/>
                <a:gridCol w="2081550"/>
              </a:tblGrid>
              <a:tr h="54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Target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Justification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80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specifications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 surface; shape, curves, and dimensions known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Keeps the testing surface bounded.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Working area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0.4 × 0.4 × 0.4 m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 space for the target, holder and pen motion.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109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surface alignment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Camera + fixture reference; set distance from target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the target consistently in a fixed location in front of the robot.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Surface drawing area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Predefined, with front 180 degrees reachable only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Avoid collisions and unreachable back surfaces.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15"/>
          <p:cNvSpPr txBox="1"/>
          <p:nvPr/>
        </p:nvSpPr>
        <p:spPr>
          <a:xfrm>
            <a:off x="475800" y="163000"/>
            <a:ext cx="554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Quantitative Use-Case Requirements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/>
          </a:blip>
          <a:srcRect b="27436" l="0" r="20861" t="0"/>
          <a:stretch/>
        </p:blipFill>
        <p:spPr>
          <a:xfrm>
            <a:off x="6753225" y="3297320"/>
            <a:ext cx="2148075" cy="147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/>
          </a:blip>
          <a:srcRect b="43073" l="43237" r="22185" t="24496"/>
          <a:stretch/>
        </p:blipFill>
        <p:spPr>
          <a:xfrm>
            <a:off x="6753225" y="968100"/>
            <a:ext cx="2148075" cy="19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6"/>
          <p:cNvGraphicFramePr/>
          <p:nvPr/>
        </p:nvGraphicFramePr>
        <p:xfrm>
          <a:off x="7260736" y="933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1749350"/>
              </a:tblGrid>
              <a:tr h="81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Design Requirements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81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 Degrees of Freedom (DOF)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Arm Max Reach Radius (≥ 0.50 m)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81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Camera Pose Error (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≤</a:t>
                      </a: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2mm)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End-Effector Accuracy (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≤</a:t>
                      </a: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2mm)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Google Shape;90;p16"/>
          <p:cNvGraphicFramePr/>
          <p:nvPr/>
        </p:nvGraphicFramePr>
        <p:xfrm>
          <a:off x="133920" y="933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1961000"/>
              </a:tblGrid>
              <a:tr h="88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Use-Case Requirements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88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specifications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Working area 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(0.4m x 0.4m x 0.4m)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88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surface alignment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Surface drawing area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16"/>
          <p:cNvSpPr txBox="1"/>
          <p:nvPr/>
        </p:nvSpPr>
        <p:spPr>
          <a:xfrm>
            <a:off x="475800" y="163000"/>
            <a:ext cx="554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Quantitative Design Requirements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0414" y="2387549"/>
            <a:ext cx="3691974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329" y="786050"/>
            <a:ext cx="2852985" cy="12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6"/>
          <p:cNvCxnSpPr>
            <a:endCxn id="93" idx="1"/>
          </p:cNvCxnSpPr>
          <p:nvPr/>
        </p:nvCxnSpPr>
        <p:spPr>
          <a:xfrm flipH="1" rot="10800000">
            <a:off x="2098129" y="1419575"/>
            <a:ext cx="1153200" cy="807900"/>
          </a:xfrm>
          <a:prstGeom prst="straightConnector1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6"/>
          <p:cNvCxnSpPr>
            <a:stCxn id="93" idx="3"/>
          </p:cNvCxnSpPr>
          <p:nvPr/>
        </p:nvCxnSpPr>
        <p:spPr>
          <a:xfrm>
            <a:off x="6104313" y="1419575"/>
            <a:ext cx="1158000" cy="722400"/>
          </a:xfrm>
          <a:prstGeom prst="straightConnector1">
            <a:avLst/>
          </a:prstGeom>
          <a:noFill/>
          <a:ln cap="flat" cmpd="sng" w="19050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6" name="Google Shape;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3645" y="3024175"/>
            <a:ext cx="767800" cy="136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6">
            <a:alphaModFix/>
          </a:blip>
          <a:srcRect b="21465" l="26133" r="26899" t="25258"/>
          <a:stretch/>
        </p:blipFill>
        <p:spPr>
          <a:xfrm>
            <a:off x="4983575" y="3938500"/>
            <a:ext cx="1635024" cy="10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6"/>
          <p:cNvCxnSpPr>
            <a:endCxn id="92" idx="1"/>
          </p:cNvCxnSpPr>
          <p:nvPr/>
        </p:nvCxnSpPr>
        <p:spPr>
          <a:xfrm flipH="1" rot="10800000">
            <a:off x="2118714" y="2714574"/>
            <a:ext cx="641700" cy="3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6"/>
          <p:cNvCxnSpPr>
            <a:stCxn id="92" idx="3"/>
          </p:cNvCxnSpPr>
          <p:nvPr/>
        </p:nvCxnSpPr>
        <p:spPr>
          <a:xfrm>
            <a:off x="6452388" y="2714574"/>
            <a:ext cx="780900" cy="16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6"/>
          <p:cNvCxnSpPr>
            <a:endCxn id="96" idx="1"/>
          </p:cNvCxnSpPr>
          <p:nvPr/>
        </p:nvCxnSpPr>
        <p:spPr>
          <a:xfrm flipH="1" rot="10800000">
            <a:off x="2094945" y="3705992"/>
            <a:ext cx="1478700" cy="232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6"/>
          <p:cNvCxnSpPr>
            <a:endCxn id="92" idx="1"/>
          </p:cNvCxnSpPr>
          <p:nvPr/>
        </p:nvCxnSpPr>
        <p:spPr>
          <a:xfrm flipH="1" rot="10800000">
            <a:off x="2129514" y="2714574"/>
            <a:ext cx="630900" cy="1025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6"/>
          <p:cNvCxnSpPr>
            <a:stCxn id="96" idx="3"/>
          </p:cNvCxnSpPr>
          <p:nvPr/>
        </p:nvCxnSpPr>
        <p:spPr>
          <a:xfrm>
            <a:off x="4341445" y="3705992"/>
            <a:ext cx="2920800" cy="34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6"/>
          <p:cNvCxnSpPr>
            <a:endCxn id="97" idx="1"/>
          </p:cNvCxnSpPr>
          <p:nvPr/>
        </p:nvCxnSpPr>
        <p:spPr>
          <a:xfrm flipH="1" rot="10800000">
            <a:off x="2118875" y="4460062"/>
            <a:ext cx="2864700" cy="190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6"/>
          <p:cNvCxnSpPr>
            <a:stCxn id="97" idx="3"/>
          </p:cNvCxnSpPr>
          <p:nvPr/>
        </p:nvCxnSpPr>
        <p:spPr>
          <a:xfrm>
            <a:off x="6618599" y="4460062"/>
            <a:ext cx="612000" cy="158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6"/>
          <p:cNvCxnSpPr>
            <a:stCxn id="92" idx="3"/>
          </p:cNvCxnSpPr>
          <p:nvPr/>
        </p:nvCxnSpPr>
        <p:spPr>
          <a:xfrm>
            <a:off x="6452388" y="2714574"/>
            <a:ext cx="778200" cy="930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80425" y="85250"/>
            <a:ext cx="81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Solution Approach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80425" y="549175"/>
            <a:ext cx="814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198045" y="747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1983675"/>
                <a:gridCol w="2747675"/>
                <a:gridCol w="4032850"/>
              </a:tblGrid>
              <a:tr h="381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Design Decision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Justification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0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a known non-planar surface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Accurately transfer a 2D path onto a curved object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Provides predictable environment for robot &amp; easier programming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a 6-DOF arm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Control pen position + direction over curvature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3-DoF system moves XYZ, but can’t orient pen around varying surface</a:t>
                      </a: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orientations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820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Restrict drawing to the reachable front region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Complete the drawing without unreachable/colliding poses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Keeps the required workspace compatible with arm's reachable poses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50" y="3424575"/>
            <a:ext cx="4190581" cy="16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18"/>
          <p:cNvGraphicFramePr/>
          <p:nvPr/>
        </p:nvGraphicFramePr>
        <p:xfrm>
          <a:off x="173945" y="681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1521450"/>
                <a:gridCol w="2232425"/>
                <a:gridCol w="2200125"/>
              </a:tblGrid>
              <a:tr h="37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Design Decision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Justification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9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SVG (Scalable Vector Graphics) input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Accept digital line drawings and convert them into robot trajectories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SVGs are ordered vectors, </a:t>
                      </a: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 easily mapped onto coordinates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camera + AprilTags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Align the digital surface model with the physical object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</a:t>
                      </a: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eed repeatable coordinate frames so digital path lines up to physical object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72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a fixed marker rack location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Reliably support multiple colors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Fixed known pickup locations simplify reliable color changes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8"/>
          <p:cNvSpPr txBox="1"/>
          <p:nvPr/>
        </p:nvSpPr>
        <p:spPr>
          <a:xfrm>
            <a:off x="80425" y="85250"/>
            <a:ext cx="81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Solution Approach Pt. 2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 b="5495" l="29450" r="11557" t="22682"/>
          <a:stretch/>
        </p:blipFill>
        <p:spPr>
          <a:xfrm>
            <a:off x="6322402" y="747050"/>
            <a:ext cx="2690601" cy="2149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121800" y="2931975"/>
            <a:ext cx="8874900" cy="2211300"/>
          </a:xfrm>
          <a:prstGeom prst="roundRect">
            <a:avLst>
              <a:gd fmla="val 16667" name="adj"/>
            </a:avLst>
          </a:prstGeom>
          <a:solidFill>
            <a:srgbClr val="AD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475800" y="4393275"/>
            <a:ext cx="374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104999" y="27525"/>
            <a:ext cx="81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System Specification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418250" y="1951575"/>
            <a:ext cx="4578600" cy="3192000"/>
          </a:xfrm>
          <a:prstGeom prst="roundRect">
            <a:avLst>
              <a:gd fmla="val 16667" name="adj"/>
            </a:avLst>
          </a:prstGeom>
          <a:solidFill>
            <a:srgbClr val="AD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Jetson 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Orin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Nano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706625" y="2931975"/>
            <a:ext cx="3035400" cy="2076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Robot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System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21800" y="718650"/>
            <a:ext cx="4172400" cy="2076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External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Computer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605982" y="302125"/>
            <a:ext cx="3436500" cy="2406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Robot Arm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16050" y="3011175"/>
            <a:ext cx="4375200" cy="2004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Robot Arm Path Construction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316050" y="891875"/>
            <a:ext cx="2820300" cy="10005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User’s Interface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2191489" y="1997797"/>
            <a:ext cx="1645200" cy="7110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Scale and transpose 2d points onto the surface</a:t>
            </a: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in 3d points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25602" y="4484700"/>
            <a:ext cx="1033200" cy="3906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Surface AprilTags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259979" y="83713"/>
            <a:ext cx="730200" cy="218400"/>
          </a:xfrm>
          <a:prstGeom prst="rect">
            <a:avLst/>
          </a:prstGeom>
          <a:solidFill>
            <a:srgbClr val="CFE2F3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Inputs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038754" y="83734"/>
            <a:ext cx="730200" cy="218400"/>
          </a:xfrm>
          <a:prstGeom prst="rect">
            <a:avLst/>
          </a:prstGeom>
          <a:solidFill>
            <a:srgbClr val="D9EAD3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038532" y="342167"/>
            <a:ext cx="730200" cy="218400"/>
          </a:xfrm>
          <a:prstGeom prst="rect">
            <a:avLst/>
          </a:prstGeom>
          <a:solidFill>
            <a:srgbClr val="FCE5CD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3259757" y="342172"/>
            <a:ext cx="730200" cy="218400"/>
          </a:xfrm>
          <a:prstGeom prst="rect">
            <a:avLst/>
          </a:prstGeom>
          <a:solidFill>
            <a:srgbClr val="F4CCCC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786355" y="4032445"/>
            <a:ext cx="1339500" cy="3060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Marker </a:t>
            </a: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Positions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1837425" y="1381880"/>
            <a:ext cx="1141200" cy="3471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Browser UI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41175" y="1381880"/>
            <a:ext cx="1141200" cy="3471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User Design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" name="Google Shape;143;p19"/>
          <p:cNvCxnSpPr>
            <a:stCxn id="141" idx="2"/>
            <a:endCxn id="134" idx="0"/>
          </p:cNvCxnSpPr>
          <p:nvPr/>
        </p:nvCxnSpPr>
        <p:spPr>
          <a:xfrm>
            <a:off x="2408025" y="1728980"/>
            <a:ext cx="606000" cy="2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9"/>
          <p:cNvCxnSpPr>
            <a:stCxn id="142" idx="3"/>
            <a:endCxn id="141" idx="1"/>
          </p:cNvCxnSpPr>
          <p:nvPr/>
        </p:nvCxnSpPr>
        <p:spPr>
          <a:xfrm>
            <a:off x="1582375" y="1555430"/>
            <a:ext cx="25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19"/>
          <p:cNvSpPr/>
          <p:nvPr/>
        </p:nvSpPr>
        <p:spPr>
          <a:xfrm>
            <a:off x="2880675" y="3848000"/>
            <a:ext cx="1297800" cy="8904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Catmull Rom Splines </a:t>
            </a: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+ Cartesian Path Interpolation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" name="Google Shape;146;p19"/>
          <p:cNvCxnSpPr>
            <a:stCxn id="140" idx="3"/>
            <a:endCxn id="145" idx="1"/>
          </p:cNvCxnSpPr>
          <p:nvPr/>
        </p:nvCxnSpPr>
        <p:spPr>
          <a:xfrm>
            <a:off x="2125855" y="4185445"/>
            <a:ext cx="754800" cy="1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19"/>
          <p:cNvSpPr/>
          <p:nvPr/>
        </p:nvSpPr>
        <p:spPr>
          <a:xfrm>
            <a:off x="817375" y="3495600"/>
            <a:ext cx="1645200" cy="3906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Intel RealSense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Depth Camera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" name="Google Shape;148;p19"/>
          <p:cNvCxnSpPr>
            <a:stCxn id="147" idx="1"/>
          </p:cNvCxnSpPr>
          <p:nvPr/>
        </p:nvCxnSpPr>
        <p:spPr>
          <a:xfrm rot="10800000">
            <a:off x="174475" y="3682200"/>
            <a:ext cx="642900" cy="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9"/>
          <p:cNvCxnSpPr/>
          <p:nvPr/>
        </p:nvCxnSpPr>
        <p:spPr>
          <a:xfrm>
            <a:off x="177350" y="3693950"/>
            <a:ext cx="3900" cy="96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9"/>
          <p:cNvCxnSpPr>
            <a:endCxn id="135" idx="1"/>
          </p:cNvCxnSpPr>
          <p:nvPr/>
        </p:nvCxnSpPr>
        <p:spPr>
          <a:xfrm flipH="1" rot="10800000">
            <a:off x="186502" y="4680000"/>
            <a:ext cx="2391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51" name="Google Shape;151;p19"/>
          <p:cNvSpPr/>
          <p:nvPr/>
        </p:nvSpPr>
        <p:spPr>
          <a:xfrm>
            <a:off x="6171900" y="3161375"/>
            <a:ext cx="1539300" cy="7917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ROS2_control_node</a:t>
            </a: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Motor control algorithms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524182" y="1305800"/>
            <a:ext cx="13395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Smart Serial Bus Servo Motors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976075" y="1305775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Servo Motor Gripper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188667" y="512625"/>
            <a:ext cx="1210800" cy="347100"/>
          </a:xfrm>
          <a:prstGeom prst="rect">
            <a:avLst/>
          </a:prstGeom>
          <a:solidFill>
            <a:srgbClr val="FCE5CD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Robot Execution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894650" y="2060288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Power Bank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(12V DC)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" name="Google Shape;156;p19"/>
          <p:cNvCxnSpPr>
            <a:stCxn id="155" idx="0"/>
            <a:endCxn id="153" idx="2"/>
          </p:cNvCxnSpPr>
          <p:nvPr/>
        </p:nvCxnSpPr>
        <p:spPr>
          <a:xfrm flipH="1" rot="10800000">
            <a:off x="5500050" y="1798088"/>
            <a:ext cx="81300" cy="2622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9"/>
          <p:cNvCxnSpPr>
            <a:stCxn id="153" idx="0"/>
            <a:endCxn id="154" idx="2"/>
          </p:cNvCxnSpPr>
          <p:nvPr/>
        </p:nvCxnSpPr>
        <p:spPr>
          <a:xfrm flipH="1" rot="10800000">
            <a:off x="5581475" y="859675"/>
            <a:ext cx="12126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>
            <a:stCxn id="152" idx="0"/>
            <a:endCxn id="154" idx="2"/>
          </p:cNvCxnSpPr>
          <p:nvPr/>
        </p:nvCxnSpPr>
        <p:spPr>
          <a:xfrm rot="10800000">
            <a:off x="6794032" y="859700"/>
            <a:ext cx="3999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9"/>
          <p:cNvCxnSpPr>
            <a:stCxn id="155" idx="3"/>
            <a:endCxn id="152" idx="2"/>
          </p:cNvCxnSpPr>
          <p:nvPr/>
        </p:nvCxnSpPr>
        <p:spPr>
          <a:xfrm flipH="1" rot="10800000">
            <a:off x="6105450" y="1798238"/>
            <a:ext cx="1088400" cy="5082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9"/>
          <p:cNvCxnSpPr>
            <a:stCxn id="134" idx="2"/>
            <a:endCxn id="161" idx="1"/>
          </p:cNvCxnSpPr>
          <p:nvPr/>
        </p:nvCxnSpPr>
        <p:spPr>
          <a:xfrm>
            <a:off x="3014089" y="2708797"/>
            <a:ext cx="416700" cy="6927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9"/>
          <p:cNvCxnSpPr>
            <a:stCxn id="161" idx="1"/>
            <a:endCxn id="145" idx="0"/>
          </p:cNvCxnSpPr>
          <p:nvPr/>
        </p:nvCxnSpPr>
        <p:spPr>
          <a:xfrm>
            <a:off x="3430808" y="3401442"/>
            <a:ext cx="98700" cy="4467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63" name="Google Shape;163;p19"/>
          <p:cNvSpPr txBox="1"/>
          <p:nvPr/>
        </p:nvSpPr>
        <p:spPr>
          <a:xfrm>
            <a:off x="157040" y="3647587"/>
            <a:ext cx="7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USB C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3430808" y="3108942"/>
            <a:ext cx="114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HTTPS</a:t>
            </a:r>
            <a:endParaRPr sz="13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GET/POST</a:t>
            </a:r>
            <a:endParaRPr sz="13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" name="Google Shape;164;p19"/>
          <p:cNvCxnSpPr>
            <a:endCxn id="140" idx="1"/>
          </p:cNvCxnSpPr>
          <p:nvPr/>
        </p:nvCxnSpPr>
        <p:spPr>
          <a:xfrm>
            <a:off x="190555" y="4180645"/>
            <a:ext cx="595800" cy="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65" name="Google Shape;165;p19"/>
          <p:cNvSpPr/>
          <p:nvPr/>
        </p:nvSpPr>
        <p:spPr>
          <a:xfrm>
            <a:off x="524120" y="2162000"/>
            <a:ext cx="1339500" cy="3906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Surface Dimensions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" name="Google Shape;166;p19"/>
          <p:cNvCxnSpPr>
            <a:stCxn id="165" idx="3"/>
            <a:endCxn id="134" idx="1"/>
          </p:cNvCxnSpPr>
          <p:nvPr/>
        </p:nvCxnSpPr>
        <p:spPr>
          <a:xfrm flipH="1" rot="10800000">
            <a:off x="1863620" y="2353400"/>
            <a:ext cx="3279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19"/>
          <p:cNvSpPr/>
          <p:nvPr/>
        </p:nvSpPr>
        <p:spPr>
          <a:xfrm>
            <a:off x="1742229" y="4484700"/>
            <a:ext cx="855000" cy="3906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Surface Pose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19"/>
          <p:cNvCxnSpPr>
            <a:stCxn id="135" idx="3"/>
            <a:endCxn id="167" idx="1"/>
          </p:cNvCxnSpPr>
          <p:nvPr/>
        </p:nvCxnSpPr>
        <p:spPr>
          <a:xfrm>
            <a:off x="1458802" y="4680000"/>
            <a:ext cx="28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9"/>
          <p:cNvCxnSpPr>
            <a:stCxn id="167" idx="3"/>
            <a:endCxn id="145" idx="1"/>
          </p:cNvCxnSpPr>
          <p:nvPr/>
        </p:nvCxnSpPr>
        <p:spPr>
          <a:xfrm flipH="1" rot="10800000">
            <a:off x="2597229" y="4293300"/>
            <a:ext cx="283500" cy="38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19"/>
          <p:cNvSpPr/>
          <p:nvPr/>
        </p:nvSpPr>
        <p:spPr>
          <a:xfrm>
            <a:off x="6105440" y="4284449"/>
            <a:ext cx="2506200" cy="5541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MoveIt 2</a:t>
            </a: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: Inverse Kinematics + Motion Planning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" name="Google Shape;171;p19"/>
          <p:cNvCxnSpPr>
            <a:stCxn id="145" idx="3"/>
            <a:endCxn id="170" idx="1"/>
          </p:cNvCxnSpPr>
          <p:nvPr/>
        </p:nvCxnSpPr>
        <p:spPr>
          <a:xfrm>
            <a:off x="4178475" y="4293200"/>
            <a:ext cx="1926900" cy="2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9"/>
          <p:cNvCxnSpPr>
            <a:stCxn id="151" idx="0"/>
            <a:endCxn id="152" idx="2"/>
          </p:cNvCxnSpPr>
          <p:nvPr/>
        </p:nvCxnSpPr>
        <p:spPr>
          <a:xfrm flipH="1" rot="10800000">
            <a:off x="6941550" y="1798175"/>
            <a:ext cx="252300" cy="13632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9"/>
          <p:cNvCxnSpPr>
            <a:stCxn id="151" idx="0"/>
          </p:cNvCxnSpPr>
          <p:nvPr/>
        </p:nvCxnSpPr>
        <p:spPr>
          <a:xfrm rot="10800000">
            <a:off x="6219450" y="1825475"/>
            <a:ext cx="722100" cy="1335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9"/>
          <p:cNvCxnSpPr>
            <a:stCxn id="170" idx="0"/>
            <a:endCxn id="151" idx="2"/>
          </p:cNvCxnSpPr>
          <p:nvPr/>
        </p:nvCxnSpPr>
        <p:spPr>
          <a:xfrm rot="10800000">
            <a:off x="6941540" y="3952949"/>
            <a:ext cx="417000" cy="3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19"/>
          <p:cNvSpPr txBox="1"/>
          <p:nvPr/>
        </p:nvSpPr>
        <p:spPr>
          <a:xfrm>
            <a:off x="6147521" y="2848837"/>
            <a:ext cx="7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PWM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163410" y="2213892"/>
            <a:ext cx="114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UART</a:t>
            </a:r>
            <a:endParaRPr sz="13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465875" y="3276775"/>
            <a:ext cx="1539300" cy="7917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RVIZ</a:t>
            </a: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: Robot Simulation and Visualization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 flipH="1" rot="10800000">
            <a:off x="7073016" y="1804037"/>
            <a:ext cx="229800" cy="13632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dash"/>
            <a:round/>
            <a:headEnd len="med" w="med" type="triangle"/>
            <a:tailEnd len="med" w="med" type="none"/>
          </a:ln>
        </p:spPr>
      </p:cxnSp>
      <p:cxnSp>
        <p:nvCxnSpPr>
          <p:cNvPr id="179" name="Google Shape;179;p19"/>
          <p:cNvCxnSpPr>
            <a:stCxn id="145" idx="3"/>
          </p:cNvCxnSpPr>
          <p:nvPr/>
        </p:nvCxnSpPr>
        <p:spPr>
          <a:xfrm flipH="1" rot="10800000">
            <a:off x="4178475" y="4086200"/>
            <a:ext cx="293100" cy="207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9"/>
          <p:cNvCxnSpPr/>
          <p:nvPr/>
        </p:nvCxnSpPr>
        <p:spPr>
          <a:xfrm rot="10800000">
            <a:off x="5947475" y="4076025"/>
            <a:ext cx="156900" cy="2301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9"/>
          <p:cNvCxnSpPr>
            <a:endCxn id="177" idx="3"/>
          </p:cNvCxnSpPr>
          <p:nvPr/>
        </p:nvCxnSpPr>
        <p:spPr>
          <a:xfrm flipH="1">
            <a:off x="6005175" y="3557125"/>
            <a:ext cx="166800" cy="1155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/>
          <p:nvPr/>
        </p:nvSpPr>
        <p:spPr>
          <a:xfrm>
            <a:off x="337700" y="967200"/>
            <a:ext cx="2140800" cy="3972300"/>
          </a:xfrm>
          <a:prstGeom prst="roundRect">
            <a:avLst>
              <a:gd fmla="val 5886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Inspiration and Tools: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URE3 Robot Arm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RVIZ 2 and MoveIt 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75800" y="363825"/>
            <a:ext cx="81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Implementation Plan</a:t>
            </a:r>
            <a:endParaRPr sz="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459896">
            <a:off x="-721332" y="1319563"/>
            <a:ext cx="1863498" cy="248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 rotWithShape="1">
          <a:blip r:embed="rId4">
            <a:alphaModFix/>
          </a:blip>
          <a:srcRect b="4817" l="39534" r="2242" t="10823"/>
          <a:stretch/>
        </p:blipFill>
        <p:spPr>
          <a:xfrm>
            <a:off x="564641" y="3177166"/>
            <a:ext cx="1746925" cy="14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4875800" y="152400"/>
            <a:ext cx="4122000" cy="4787100"/>
          </a:xfrm>
          <a:prstGeom prst="roundRect">
            <a:avLst>
              <a:gd fmla="val 5886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Designing and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Assembling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Designing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3D Printing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Full Robot Arm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Custom ROS2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 Stack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AprilTag Pose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Detection and CV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606750" y="967200"/>
            <a:ext cx="2140800" cy="3972300"/>
          </a:xfrm>
          <a:prstGeom prst="roundRect">
            <a:avLst>
              <a:gd fmla="val 5886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Parts to Buy / Use: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Smart Serial Bus Servo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Jetson Orin Nano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RealSense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Depth Camera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125" y="2965776"/>
            <a:ext cx="1746925" cy="46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6">
            <a:alphaModFix/>
          </a:blip>
          <a:srcRect b="14424" l="0" r="0" t="15079"/>
          <a:stretch/>
        </p:blipFill>
        <p:spPr>
          <a:xfrm>
            <a:off x="3011675" y="1546425"/>
            <a:ext cx="1330950" cy="938275"/>
          </a:xfrm>
          <a:prstGeom prst="rect">
            <a:avLst/>
          </a:prstGeom>
          <a:solidFill>
            <a:srgbClr val="EAD1DC"/>
          </a:solidFill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82879" y="2481675"/>
            <a:ext cx="2140800" cy="16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06750" y="4069558"/>
            <a:ext cx="2140800" cy="74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9">
            <a:alphaModFix/>
          </a:blip>
          <a:srcRect b="30982" l="19084" r="17303" t="19016"/>
          <a:stretch/>
        </p:blipFill>
        <p:spPr>
          <a:xfrm>
            <a:off x="5277942" y="1002325"/>
            <a:ext cx="1330950" cy="126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10">
            <a:alphaModFix/>
          </a:blip>
          <a:srcRect b="22925" l="42957" r="8950" t="20914"/>
          <a:stretch/>
        </p:blipFill>
        <p:spPr>
          <a:xfrm>
            <a:off x="6934358" y="2308504"/>
            <a:ext cx="1978925" cy="126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72925" y="3681125"/>
            <a:ext cx="2098032" cy="11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12">
            <a:alphaModFix/>
          </a:blip>
          <a:srcRect b="5495" l="29450" r="11557" t="22682"/>
          <a:stretch/>
        </p:blipFill>
        <p:spPr>
          <a:xfrm>
            <a:off x="7135442" y="546124"/>
            <a:ext cx="1978926" cy="1581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475800" y="363825"/>
            <a:ext cx="81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Test, Verification, and Validation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47650" y="1180350"/>
            <a:ext cx="2707500" cy="3717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74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225" lIns="71225" spcFirstLastPara="1" rIns="71225" wrap="square" tIns="7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2" u="sng">
                <a:latin typeface="Roboto"/>
                <a:ea typeface="Roboto"/>
                <a:cs typeface="Roboto"/>
                <a:sym typeface="Roboto"/>
              </a:rPr>
              <a:t>Surface Pose Detection</a:t>
            </a:r>
            <a:endParaRPr b="1" sz="1702" u="sng">
              <a:latin typeface="Roboto"/>
              <a:ea typeface="Roboto"/>
              <a:cs typeface="Roboto"/>
              <a:sym typeface="Roboto"/>
            </a:endParaRPr>
          </a:p>
          <a:p>
            <a:pPr indent="-260610" lvl="0" marL="356122" rtl="0" algn="l">
              <a:spcBef>
                <a:spcPts val="779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AprilTags + OpenCV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260610" lvl="0" marL="356122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Absolute error ≤ 2 mm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996" y="2576987"/>
            <a:ext cx="2200779" cy="1970500"/>
          </a:xfrm>
          <a:prstGeom prst="rect">
            <a:avLst/>
          </a:prstGeom>
          <a:noFill/>
          <a:ln cap="flat" cmpd="sng" w="148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1"/>
          <p:cNvSpPr/>
          <p:nvPr/>
        </p:nvSpPr>
        <p:spPr>
          <a:xfrm>
            <a:off x="3218250" y="1180350"/>
            <a:ext cx="2707500" cy="3717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74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225" lIns="71225" spcFirstLastPara="1" rIns="71225" wrap="square" tIns="7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2" u="sng">
                <a:latin typeface="Roboto"/>
                <a:ea typeface="Roboto"/>
                <a:cs typeface="Roboto"/>
                <a:sym typeface="Roboto"/>
              </a:rPr>
              <a:t>3D </a:t>
            </a:r>
            <a:r>
              <a:rPr b="1" lang="en" sz="1702" u="sng">
                <a:latin typeface="Roboto"/>
                <a:ea typeface="Roboto"/>
                <a:cs typeface="Roboto"/>
                <a:sym typeface="Roboto"/>
              </a:rPr>
              <a:t>Position Accuracy</a:t>
            </a:r>
            <a:endParaRPr b="1" sz="1702" u="sng">
              <a:latin typeface="Roboto"/>
              <a:ea typeface="Roboto"/>
              <a:cs typeface="Roboto"/>
              <a:sym typeface="Roboto"/>
            </a:endParaRPr>
          </a:p>
          <a:p>
            <a:pPr indent="-260610" lvl="0" marL="356122" rtl="0" algn="l">
              <a:spcBef>
                <a:spcPts val="779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Abs. position error ≤ 2 mm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260610" lvl="0" marL="356122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Drawing accuracy: printed vs drawn pattern </a:t>
            </a:r>
            <a:r>
              <a:rPr lang="en" sz="1300">
                <a:latin typeface="Roboto"/>
                <a:ea typeface="Roboto"/>
                <a:cs typeface="Roboto"/>
                <a:sym typeface="Roboto"/>
              </a:rPr>
              <a:t>≤ 2 mm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35612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Dodecagon inscribed within a circle, with the inner dodecagon colored red.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8864" y="2576987"/>
            <a:ext cx="2026300" cy="2026300"/>
          </a:xfrm>
          <a:prstGeom prst="rect">
            <a:avLst/>
          </a:prstGeom>
          <a:noFill/>
          <a:ln cap="flat" cmpd="sng" w="148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" name="Google Shape;209;p21"/>
          <p:cNvSpPr/>
          <p:nvPr/>
        </p:nvSpPr>
        <p:spPr>
          <a:xfrm>
            <a:off x="6188875" y="1180350"/>
            <a:ext cx="2707500" cy="3717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74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225" lIns="71225" spcFirstLastPara="1" rIns="71225" wrap="square" tIns="7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2" u="sng">
                <a:latin typeface="Roboto"/>
                <a:ea typeface="Roboto"/>
                <a:cs typeface="Roboto"/>
                <a:sym typeface="Roboto"/>
              </a:rPr>
              <a:t>Pen Selection &amp; Pickup</a:t>
            </a:r>
            <a:endParaRPr b="1" sz="1702" u="sng">
              <a:latin typeface="Roboto"/>
              <a:ea typeface="Roboto"/>
              <a:cs typeface="Roboto"/>
              <a:sym typeface="Roboto"/>
            </a:endParaRPr>
          </a:p>
          <a:p>
            <a:pPr indent="-260610" lvl="0" marL="356122" rtl="0" algn="l">
              <a:spcBef>
                <a:spcPts val="779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Test pen holder reliability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260610" lvl="0" marL="356122" rtl="0" algn="l"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90% pickup accuracy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 rotWithShape="1">
          <a:blip r:embed="rId5">
            <a:alphaModFix/>
          </a:blip>
          <a:srcRect b="22973" l="23879" r="26753" t="10169"/>
          <a:stretch/>
        </p:blipFill>
        <p:spPr>
          <a:xfrm>
            <a:off x="6442225" y="2565637"/>
            <a:ext cx="2200776" cy="2048987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337700" y="967200"/>
            <a:ext cx="8485800" cy="3972300"/>
          </a:xfrm>
          <a:prstGeom prst="roundRect">
            <a:avLst>
              <a:gd fmla="val 5886" name="adj"/>
            </a:avLst>
          </a:prstGeom>
          <a:solidFill>
            <a:srgbClr val="F7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highlight>
                <a:schemeClr val="accen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75800" y="363825"/>
            <a:ext cx="81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Risks and Unknowns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73325" y="1142500"/>
            <a:ext cx="2093700" cy="6639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Surface Pose Detection Failure</a:t>
            </a:r>
            <a:endParaRPr b="1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2"/>
          <p:cNvCxnSpPr>
            <a:stCxn id="217" idx="2"/>
            <a:endCxn id="219" idx="0"/>
          </p:cNvCxnSpPr>
          <p:nvPr/>
        </p:nvCxnSpPr>
        <p:spPr>
          <a:xfrm>
            <a:off x="1920175" y="1806400"/>
            <a:ext cx="1479600" cy="7476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>
            <a:stCxn id="217" idx="2"/>
            <a:endCxn id="221" idx="0"/>
          </p:cNvCxnSpPr>
          <p:nvPr/>
        </p:nvCxnSpPr>
        <p:spPr>
          <a:xfrm flipH="1">
            <a:off x="1288375" y="1806400"/>
            <a:ext cx="631800" cy="7476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2" name="Google Shape;222;p22"/>
          <p:cNvGrpSpPr/>
          <p:nvPr/>
        </p:nvGrpSpPr>
        <p:grpSpPr>
          <a:xfrm>
            <a:off x="424832" y="2553900"/>
            <a:ext cx="1727132" cy="2113500"/>
            <a:chOff x="232579" y="2495000"/>
            <a:chExt cx="1894200" cy="2113500"/>
          </a:xfrm>
        </p:grpSpPr>
        <p:sp>
          <p:nvSpPr>
            <p:cNvPr id="221" name="Google Shape;221;p22"/>
            <p:cNvSpPr/>
            <p:nvPr/>
          </p:nvSpPr>
          <p:spPr>
            <a:xfrm>
              <a:off x="232579" y="2495000"/>
              <a:ext cx="1894200" cy="21135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C4587"/>
                  </a:solidFill>
                  <a:latin typeface="Roboto"/>
                  <a:ea typeface="Roboto"/>
                  <a:cs typeface="Roboto"/>
                  <a:sym typeface="Roboto"/>
                </a:rPr>
                <a:t>Train YOLOv26 detection model on AprilTags</a:t>
              </a:r>
              <a:endParaRPr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23" name="Google Shape;223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3479" y="3383575"/>
              <a:ext cx="1572398" cy="103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22"/>
          <p:cNvSpPr/>
          <p:nvPr/>
        </p:nvSpPr>
        <p:spPr>
          <a:xfrm>
            <a:off x="3617450" y="1142500"/>
            <a:ext cx="2093700" cy="6639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Marker Selection &amp; Pickup Failure</a:t>
            </a:r>
            <a:endParaRPr b="1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22"/>
          <p:cNvCxnSpPr>
            <a:stCxn id="224" idx="2"/>
            <a:endCxn id="219" idx="0"/>
          </p:cNvCxnSpPr>
          <p:nvPr/>
        </p:nvCxnSpPr>
        <p:spPr>
          <a:xfrm flipH="1">
            <a:off x="3399800" y="1806400"/>
            <a:ext cx="1264500" cy="7476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2"/>
          <p:cNvSpPr/>
          <p:nvPr/>
        </p:nvSpPr>
        <p:spPr>
          <a:xfrm>
            <a:off x="4729152" y="2554000"/>
            <a:ext cx="2018700" cy="2113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Fix location of object to optimal area on workspace</a:t>
            </a:r>
            <a:endParaRPr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985982" y="2553994"/>
            <a:ext cx="1727132" cy="2113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Upgrade motor strength/control</a:t>
            </a:r>
            <a:endParaRPr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352850" y="2554000"/>
            <a:ext cx="2093700" cy="2113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Use depth functionality on camera for detection</a:t>
            </a:r>
            <a:endParaRPr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22"/>
          <p:cNvPicPr preferRelativeResize="0"/>
          <p:nvPr/>
        </p:nvPicPr>
        <p:blipFill rotWithShape="1">
          <a:blip r:embed="rId4">
            <a:alphaModFix/>
          </a:blip>
          <a:srcRect b="15186" l="11512" r="12754" t="20056"/>
          <a:stretch/>
        </p:blipFill>
        <p:spPr>
          <a:xfrm>
            <a:off x="2748247" y="3442474"/>
            <a:ext cx="1384632" cy="103885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22"/>
          <p:cNvSpPr/>
          <p:nvPr/>
        </p:nvSpPr>
        <p:spPr>
          <a:xfrm>
            <a:off x="6361575" y="1142500"/>
            <a:ext cx="2093700" cy="6639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3D Position Accuracy</a:t>
            </a:r>
            <a:r>
              <a:rPr b="1" lang="en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 Failure</a:t>
            </a:r>
            <a:endParaRPr b="1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22"/>
          <p:cNvCxnSpPr>
            <a:stCxn id="229" idx="2"/>
            <a:endCxn id="226" idx="0"/>
          </p:cNvCxnSpPr>
          <p:nvPr/>
        </p:nvCxnSpPr>
        <p:spPr>
          <a:xfrm flipH="1">
            <a:off x="5738625" y="1806400"/>
            <a:ext cx="1669800" cy="7476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2"/>
          <p:cNvCxnSpPr>
            <a:stCxn id="229" idx="2"/>
            <a:endCxn id="227" idx="0"/>
          </p:cNvCxnSpPr>
          <p:nvPr/>
        </p:nvCxnSpPr>
        <p:spPr>
          <a:xfrm>
            <a:off x="7408425" y="1806400"/>
            <a:ext cx="441000" cy="747600"/>
          </a:xfrm>
          <a:prstGeom prst="straightConnector1">
            <a:avLst/>
          </a:prstGeom>
          <a:noFill/>
          <a:ln cap="flat" cmpd="sng" w="28575">
            <a:solidFill>
              <a:srgbClr val="00206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2"/>
          <p:cNvSpPr/>
          <p:nvPr/>
        </p:nvSpPr>
        <p:spPr>
          <a:xfrm>
            <a:off x="4998700" y="3531700"/>
            <a:ext cx="1479600" cy="86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9900" y="3741400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5995625" y="3741400"/>
            <a:ext cx="225300" cy="4410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5" name="Google Shape;235;p22"/>
          <p:cNvCxnSpPr>
            <a:stCxn id="234" idx="2"/>
          </p:cNvCxnSpPr>
          <p:nvPr/>
        </p:nvCxnSpPr>
        <p:spPr>
          <a:xfrm flipH="1">
            <a:off x="5545025" y="3961900"/>
            <a:ext cx="450600" cy="3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2"/>
          <p:cNvCxnSpPr/>
          <p:nvPr/>
        </p:nvCxnSpPr>
        <p:spPr>
          <a:xfrm>
            <a:off x="5534750" y="3670700"/>
            <a:ext cx="1200" cy="562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Stepper motor on a large upward-pointing green arrow, suggesting improvement or upgrade." id="237" name="Google Shape;237;p22"/>
          <p:cNvPicPr preferRelativeResize="0"/>
          <p:nvPr/>
        </p:nvPicPr>
        <p:blipFill rotWithShape="1">
          <a:blip r:embed="rId6">
            <a:alphaModFix/>
          </a:blip>
          <a:srcRect b="17994" l="0" r="0" t="2704"/>
          <a:stretch/>
        </p:blipFill>
        <p:spPr>
          <a:xfrm>
            <a:off x="7284663" y="3442475"/>
            <a:ext cx="1129775" cy="964176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/>
        </p:nvSpPr>
        <p:spPr>
          <a:xfrm>
            <a:off x="475800" y="363825"/>
            <a:ext cx="81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Schedule &amp; Demonstration Milestones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475800" y="4393275"/>
            <a:ext cx="374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3595"/>
            <a:ext cx="9144001" cy="4035793"/>
          </a:xfrm>
          <a:prstGeom prst="rect">
            <a:avLst/>
          </a:prstGeom>
          <a:solidFill>
            <a:srgbClr val="F7EBE1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OLD SLIDES BELOW: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6005321" y="4815678"/>
            <a:ext cx="307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Remember – Relevant figures (and tables) can be worth </a:t>
            </a:r>
            <a:b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“a thousand words”!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/>
          <p:nvPr/>
        </p:nvSpPr>
        <p:spPr>
          <a:xfrm>
            <a:off x="337700" y="967200"/>
            <a:ext cx="8485800" cy="3972300"/>
          </a:xfrm>
          <a:prstGeom prst="roundRect">
            <a:avLst>
              <a:gd fmla="val 5886" name="adj"/>
            </a:avLst>
          </a:prstGeom>
          <a:solidFill>
            <a:srgbClr val="F7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highlight>
                <a:schemeClr val="accen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475800" y="4393275"/>
            <a:ext cx="374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descr="Graphic designer working on digital tablet Creative workplace. (Provided by Getty Images)" id="257" name="Google Shape;2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800" y="2508275"/>
            <a:ext cx="3310561" cy="220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475800" y="363825"/>
            <a:ext cx="81411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User Story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Digital artist and business owner Leonardo creates custom ceramic mugs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Leonardo makes his designs digitally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Redoing every design on each mug is time consuming at scale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He wants a robotic solution that allows him to produce mugs en masse</a:t>
            </a:r>
            <a:endParaRPr b="1"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9" name="Google Shape;2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475" y="2583437"/>
            <a:ext cx="2197850" cy="205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/>
          <p:nvPr/>
        </p:nvSpPr>
        <p:spPr>
          <a:xfrm>
            <a:off x="265600" y="358300"/>
            <a:ext cx="5863200" cy="4389900"/>
          </a:xfrm>
          <a:prstGeom prst="roundRect">
            <a:avLst>
              <a:gd fmla="val 5886" name="adj"/>
            </a:avLst>
          </a:prstGeom>
          <a:solidFill>
            <a:srgbClr val="F7EB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highlight>
                <a:schemeClr val="accent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626750" y="1691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441150" y="391025"/>
            <a:ext cx="5654700" cy="4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Use Case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Reproducing digital art on non-planar surfaces where using standard CNC machines with 3 DoF is difficult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Often, problems with printing are: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14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Lack of stroke depth, colors, and fluidness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Robots have a difficult time adjusting to surfaces it’s not familiar with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4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Our robot should successfully replicate a piece of submitted art on a fixed non-planar surface whose dimensions we know.</a:t>
            </a:r>
            <a:endParaRPr sz="1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7" name="Google Shape;267;p26"/>
          <p:cNvPicPr preferRelativeResize="0"/>
          <p:nvPr/>
        </p:nvPicPr>
        <p:blipFill rotWithShape="1">
          <a:blip r:embed="rId3">
            <a:alphaModFix/>
          </a:blip>
          <a:srcRect b="27399" l="0" r="0" t="0"/>
          <a:stretch/>
        </p:blipFill>
        <p:spPr>
          <a:xfrm>
            <a:off x="6626350" y="391025"/>
            <a:ext cx="2057413" cy="22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/>
          <p:cNvPicPr preferRelativeResize="0"/>
          <p:nvPr/>
        </p:nvPicPr>
        <p:blipFill rotWithShape="1">
          <a:blip r:embed="rId4">
            <a:alphaModFix/>
          </a:blip>
          <a:srcRect b="0" l="16359" r="18878" t="0"/>
          <a:stretch/>
        </p:blipFill>
        <p:spPr>
          <a:xfrm>
            <a:off x="6626350" y="2792550"/>
            <a:ext cx="2057426" cy="195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27"/>
          <p:cNvGraphicFramePr/>
          <p:nvPr/>
        </p:nvGraphicFramePr>
        <p:xfrm>
          <a:off x="214595" y="1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1569700"/>
                <a:gridCol w="2242450"/>
                <a:gridCol w="2496575"/>
              </a:tblGrid>
              <a:tr h="8286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Use-Case Requirements (1/2)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381000" marR="95250" marL="95250"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Target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Justification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specifications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 surface; shape, curves, and dimensions known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Keeps the testing surface bounded.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area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Predefined, with front section reachable only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Avoid collisions and unreachable back surfaces.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surface alignment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Camera + fixture reference; set distance from target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the target consistently in a fixed location in front of the robot.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Working area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0.4 × 0.4 × 0.4 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 space for the target, holder and pen motion.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pic>
        <p:nvPicPr>
          <p:cNvPr descr="Modern Robotic Arm For Manufacturing Products (Provided by Getty Images)" id="274" name="Google Shape;274;p27"/>
          <p:cNvPicPr preferRelativeResize="0"/>
          <p:nvPr/>
        </p:nvPicPr>
        <p:blipFill rotWithShape="1">
          <a:blip r:embed="rId3">
            <a:alphaModFix/>
          </a:blip>
          <a:srcRect b="0" l="11479" r="52580" t="0"/>
          <a:stretch/>
        </p:blipFill>
        <p:spPr>
          <a:xfrm>
            <a:off x="6762675" y="447600"/>
            <a:ext cx="2159549" cy="424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" name="Google Shape;279;p28"/>
          <p:cNvGraphicFramePr/>
          <p:nvPr/>
        </p:nvGraphicFramePr>
        <p:xfrm>
          <a:off x="51622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2000250"/>
                <a:gridCol w="2857500"/>
                <a:gridCol w="3181350"/>
              </a:tblGrid>
              <a:tr h="8286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Use-Case Requirements (2/2)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0" marB="381000" marR="95250" marL="95250"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C4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Target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C4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Justification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C4B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Drawing format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SVG vector paths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Preserve digital strokes for mapping onto the curved surface.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Line accuracy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≤2.00mm surface-path error; statistic TBD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Keep outlines useful for subsequent carving or painting.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 limits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colors; 50 strokes; 100 cm combined path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Support small patterns while bounding job complexity.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Pen orientation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Proposed 6-DOF arm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 pen position and angle along the known curve.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8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29"/>
          <p:cNvGraphicFramePr/>
          <p:nvPr/>
        </p:nvGraphicFramePr>
        <p:xfrm>
          <a:off x="548640" y="155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2209800"/>
                <a:gridCol w="2057400"/>
                <a:gridCol w="3762375"/>
              </a:tblGrid>
              <a:tr h="7429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Challenges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381000" marR="91425" marL="91425"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Challenge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Requirement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Proposed response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Weight of arm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Arm needs needs to be able to draw without falling over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Install heavy counterweights at the base, or bolt the arm to a rigid fixture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Target position / rotation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Consistent design detection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Fixed location + April tag for manual calibration of (0, 0)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Marker contact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Maintain contact during curved motion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Spring-loaded holder; force sensing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Marker pickup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At least 90% swap success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Fixed rack; gripper; tip calibration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Reach / orientation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Reach / handle clearance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Front arc + collision checks; rotation later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Degrees of Freedom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6-DOF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Calculate curved path; adjust pen angle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BE1"/>
                    </a:solidFill>
                  </a:tcPr>
                </a:tc>
              </a:tr>
            </a:tbl>
          </a:graphicData>
        </a:graphic>
      </p:graphicFrame>
      <p:pic>
        <p:nvPicPr>
          <p:cNvPr descr="Robot holding computer circuit board (Provided by Getty Images)" id="285" name="Google Shape;285;p29"/>
          <p:cNvPicPr preferRelativeResize="0"/>
          <p:nvPr/>
        </p:nvPicPr>
        <p:blipFill rotWithShape="1">
          <a:blip r:embed="rId3">
            <a:alphaModFix/>
          </a:blip>
          <a:srcRect b="23187" l="0" r="0" t="15244"/>
          <a:stretch/>
        </p:blipFill>
        <p:spPr>
          <a:xfrm>
            <a:off x="6714588" y="242762"/>
            <a:ext cx="2345426" cy="9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/>
          <p:nvPr/>
        </p:nvSpPr>
        <p:spPr>
          <a:xfrm>
            <a:off x="4752439" y="718700"/>
            <a:ext cx="4244400" cy="4424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Jetson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Nano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121225" y="718700"/>
            <a:ext cx="4450800" cy="4424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External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Computer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5056975" y="1587175"/>
            <a:ext cx="3436500" cy="34287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Robot Arm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316050" y="2329700"/>
            <a:ext cx="4102200" cy="26862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Robot Arm Path Construction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316050" y="891875"/>
            <a:ext cx="2820300" cy="1104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User’s Interface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548650" y="155450"/>
            <a:ext cx="39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Proposed Solution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2056208" y="2868894"/>
            <a:ext cx="1645200" cy="7110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Scale and transpose 2d points onto the surface in 3d points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441185" y="2868904"/>
            <a:ext cx="1339500" cy="3906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Surface position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and dimensions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8356775" y="4063276"/>
            <a:ext cx="730200" cy="218400"/>
          </a:xfrm>
          <a:prstGeom prst="rect">
            <a:avLst/>
          </a:prstGeom>
          <a:solidFill>
            <a:srgbClr val="CFE2F3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Inputs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8356775" y="4334271"/>
            <a:ext cx="730200" cy="218400"/>
          </a:xfrm>
          <a:prstGeom prst="rect">
            <a:avLst/>
          </a:prstGeom>
          <a:solidFill>
            <a:srgbClr val="D9EAD3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8356775" y="4876262"/>
            <a:ext cx="730200" cy="218400"/>
          </a:xfrm>
          <a:prstGeom prst="rect">
            <a:avLst/>
          </a:prstGeom>
          <a:solidFill>
            <a:srgbClr val="FCE5CD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8356775" y="4605266"/>
            <a:ext cx="730200" cy="218400"/>
          </a:xfrm>
          <a:prstGeom prst="rect">
            <a:avLst/>
          </a:prstGeom>
          <a:solidFill>
            <a:schemeClr val="accent6"/>
          </a:solidFill>
          <a:ln cap="flat" cmpd="sng" w="7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75" lIns="68975" spcFirstLastPara="1" rIns="68975" wrap="square" tIns="68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5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 sz="905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441168" y="3412205"/>
            <a:ext cx="1339500" cy="3060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Marker positions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1837425" y="1413630"/>
            <a:ext cx="1141200" cy="3471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Browser UI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441175" y="1413630"/>
            <a:ext cx="1141200" cy="347100"/>
          </a:xfrm>
          <a:prstGeom prst="rect">
            <a:avLst/>
          </a:prstGeom>
          <a:solidFill>
            <a:srgbClr val="CFE2F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User Image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" name="Google Shape;305;p30"/>
          <p:cNvCxnSpPr>
            <a:stCxn id="304" idx="2"/>
          </p:cNvCxnSpPr>
          <p:nvPr/>
        </p:nvCxnSpPr>
        <p:spPr>
          <a:xfrm>
            <a:off x="1011775" y="1760730"/>
            <a:ext cx="7800" cy="4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0"/>
          <p:cNvCxnSpPr/>
          <p:nvPr/>
        </p:nvCxnSpPr>
        <p:spPr>
          <a:xfrm>
            <a:off x="1019600" y="2158275"/>
            <a:ext cx="20025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0"/>
          <p:cNvCxnSpPr>
            <a:endCxn id="296" idx="0"/>
          </p:cNvCxnSpPr>
          <p:nvPr/>
        </p:nvCxnSpPr>
        <p:spPr>
          <a:xfrm flipH="1">
            <a:off x="2878808" y="2168994"/>
            <a:ext cx="143100" cy="69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30"/>
          <p:cNvCxnSpPr>
            <a:stCxn id="297" idx="3"/>
            <a:endCxn id="296" idx="1"/>
          </p:cNvCxnSpPr>
          <p:nvPr/>
        </p:nvCxnSpPr>
        <p:spPr>
          <a:xfrm>
            <a:off x="1780685" y="3064204"/>
            <a:ext cx="275400" cy="16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30"/>
          <p:cNvCxnSpPr>
            <a:stCxn id="304" idx="3"/>
            <a:endCxn id="303" idx="1"/>
          </p:cNvCxnSpPr>
          <p:nvPr/>
        </p:nvCxnSpPr>
        <p:spPr>
          <a:xfrm>
            <a:off x="1582375" y="1587180"/>
            <a:ext cx="25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30"/>
          <p:cNvSpPr/>
          <p:nvPr/>
        </p:nvSpPr>
        <p:spPr>
          <a:xfrm>
            <a:off x="1244281" y="3967950"/>
            <a:ext cx="2154600" cy="9066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Inverse kinematics + Cartesian Path Interpolation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(Create the current drawings full path)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30"/>
          <p:cNvCxnSpPr>
            <a:stCxn id="302" idx="2"/>
            <a:endCxn id="310" idx="0"/>
          </p:cNvCxnSpPr>
          <p:nvPr/>
        </p:nvCxnSpPr>
        <p:spPr>
          <a:xfrm>
            <a:off x="1110918" y="3718205"/>
            <a:ext cx="1210800" cy="2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30"/>
          <p:cNvCxnSpPr>
            <a:stCxn id="296" idx="2"/>
            <a:endCxn id="310" idx="0"/>
          </p:cNvCxnSpPr>
          <p:nvPr/>
        </p:nvCxnSpPr>
        <p:spPr>
          <a:xfrm flipH="1">
            <a:off x="2321708" y="3579894"/>
            <a:ext cx="557100" cy="3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0"/>
          <p:cNvCxnSpPr>
            <a:stCxn id="303" idx="3"/>
          </p:cNvCxnSpPr>
          <p:nvPr/>
        </p:nvCxnSpPr>
        <p:spPr>
          <a:xfrm>
            <a:off x="2978625" y="1587180"/>
            <a:ext cx="1136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0"/>
          <p:cNvCxnSpPr/>
          <p:nvPr/>
        </p:nvCxnSpPr>
        <p:spPr>
          <a:xfrm>
            <a:off x="4115225" y="1606250"/>
            <a:ext cx="10800" cy="28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30"/>
          <p:cNvSpPr/>
          <p:nvPr/>
        </p:nvSpPr>
        <p:spPr>
          <a:xfrm>
            <a:off x="5423150" y="854125"/>
            <a:ext cx="16452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External Cameras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" name="Google Shape;316;p30"/>
          <p:cNvCxnSpPr>
            <a:stCxn id="315" idx="0"/>
          </p:cNvCxnSpPr>
          <p:nvPr/>
        </p:nvCxnSpPr>
        <p:spPr>
          <a:xfrm flipH="1" rot="10800000">
            <a:off x="6245750" y="610525"/>
            <a:ext cx="1800" cy="2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0"/>
          <p:cNvCxnSpPr/>
          <p:nvPr/>
        </p:nvCxnSpPr>
        <p:spPr>
          <a:xfrm flipH="1">
            <a:off x="251150" y="621300"/>
            <a:ext cx="6007200" cy="3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30"/>
          <p:cNvCxnSpPr/>
          <p:nvPr/>
        </p:nvCxnSpPr>
        <p:spPr>
          <a:xfrm>
            <a:off x="272750" y="653750"/>
            <a:ext cx="0" cy="24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0"/>
          <p:cNvCxnSpPr/>
          <p:nvPr/>
        </p:nvCxnSpPr>
        <p:spPr>
          <a:xfrm>
            <a:off x="272525" y="3077925"/>
            <a:ext cx="1845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" name="Google Shape;320;p30"/>
          <p:cNvSpPr/>
          <p:nvPr/>
        </p:nvSpPr>
        <p:spPr>
          <a:xfrm>
            <a:off x="6607875" y="3808500"/>
            <a:ext cx="1645200" cy="1104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Microcontroller</a:t>
            </a:r>
            <a:endParaRPr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6780075" y="3949850"/>
            <a:ext cx="1210800" cy="4923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Motor control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firmware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5203388" y="4175100"/>
            <a:ext cx="1210800" cy="492300"/>
          </a:xfrm>
          <a:prstGeom prst="rect">
            <a:avLst/>
          </a:prstGeom>
          <a:solidFill>
            <a:srgbClr val="D9EAD3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ROS2 Path Execution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3" name="Google Shape;323;p30"/>
          <p:cNvCxnSpPr>
            <a:endCxn id="322" idx="1"/>
          </p:cNvCxnSpPr>
          <p:nvPr/>
        </p:nvCxnSpPr>
        <p:spPr>
          <a:xfrm>
            <a:off x="3398888" y="4421250"/>
            <a:ext cx="18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0"/>
          <p:cNvCxnSpPr>
            <a:stCxn id="322" idx="3"/>
            <a:endCxn id="321" idx="1"/>
          </p:cNvCxnSpPr>
          <p:nvPr/>
        </p:nvCxnSpPr>
        <p:spPr>
          <a:xfrm flipH="1" rot="10800000">
            <a:off x="6414188" y="4195950"/>
            <a:ext cx="3660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30"/>
          <p:cNvSpPr/>
          <p:nvPr/>
        </p:nvSpPr>
        <p:spPr>
          <a:xfrm>
            <a:off x="6890538" y="2584488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Stepper motor joints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300563" y="2584475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Servo motor gripper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6513154" y="1791325"/>
            <a:ext cx="1210800" cy="347100"/>
          </a:xfrm>
          <a:prstGeom prst="rect">
            <a:avLst/>
          </a:prstGeom>
          <a:solidFill>
            <a:srgbClr val="FCE5CD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Robot execution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5203388" y="3379775"/>
            <a:ext cx="1210800" cy="492300"/>
          </a:xfrm>
          <a:prstGeom prst="rect">
            <a:avLst/>
          </a:prstGeom>
          <a:solidFill>
            <a:srgbClr val="F4CCCC"/>
          </a:solidFill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75" lIns="74475" spcFirstLastPara="1" rIns="74475" wrap="square" tIns="74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Power Bank</a:t>
            </a:r>
            <a:endParaRPr sz="114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9" name="Google Shape;329;p30"/>
          <p:cNvCxnSpPr>
            <a:stCxn id="328" idx="0"/>
            <a:endCxn id="326" idx="2"/>
          </p:cNvCxnSpPr>
          <p:nvPr/>
        </p:nvCxnSpPr>
        <p:spPr>
          <a:xfrm flipH="1" rot="10800000">
            <a:off x="5808788" y="3076775"/>
            <a:ext cx="97200" cy="3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30"/>
          <p:cNvCxnSpPr>
            <a:stCxn id="326" idx="0"/>
            <a:endCxn id="327" idx="2"/>
          </p:cNvCxnSpPr>
          <p:nvPr/>
        </p:nvCxnSpPr>
        <p:spPr>
          <a:xfrm flipH="1" rot="10800000">
            <a:off x="5905963" y="2138375"/>
            <a:ext cx="12126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0"/>
          <p:cNvCxnSpPr>
            <a:stCxn id="325" idx="0"/>
            <a:endCxn id="327" idx="2"/>
          </p:cNvCxnSpPr>
          <p:nvPr/>
        </p:nvCxnSpPr>
        <p:spPr>
          <a:xfrm rot="10800000">
            <a:off x="7118538" y="2138388"/>
            <a:ext cx="377400" cy="44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0"/>
          <p:cNvCxnSpPr>
            <a:stCxn id="321" idx="0"/>
            <a:endCxn id="325" idx="2"/>
          </p:cNvCxnSpPr>
          <p:nvPr/>
        </p:nvCxnSpPr>
        <p:spPr>
          <a:xfrm flipH="1" rot="10800000">
            <a:off x="7385475" y="3076850"/>
            <a:ext cx="110400" cy="8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0"/>
          <p:cNvCxnSpPr>
            <a:stCxn id="321" idx="0"/>
          </p:cNvCxnSpPr>
          <p:nvPr/>
        </p:nvCxnSpPr>
        <p:spPr>
          <a:xfrm rot="10800000">
            <a:off x="6530475" y="3094550"/>
            <a:ext cx="855000" cy="8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/>
          <p:nvPr/>
        </p:nvSpPr>
        <p:spPr>
          <a:xfrm>
            <a:off x="4771175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546500" y="165391"/>
            <a:ext cx="39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Testing and Verification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31"/>
          <p:cNvSpPr/>
          <p:nvPr/>
        </p:nvSpPr>
        <p:spPr>
          <a:xfrm rot="5400000">
            <a:off x="49881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1" name="Google Shape;341;p31"/>
          <p:cNvSpPr txBox="1"/>
          <p:nvPr>
            <p:ph idx="4294967295" type="title"/>
          </p:nvPr>
        </p:nvSpPr>
        <p:spPr>
          <a:xfrm>
            <a:off x="4884733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Coordinate Algorithm Testing</a:t>
            </a:r>
            <a:endParaRPr b="1" sz="1200"/>
          </a:p>
        </p:txBody>
      </p:sp>
      <p:sp>
        <p:nvSpPr>
          <p:cNvPr id="342" name="Google Shape;342;p31"/>
          <p:cNvSpPr txBox="1"/>
          <p:nvPr>
            <p:ph idx="4294967295" type="body"/>
          </p:nvPr>
        </p:nvSpPr>
        <p:spPr>
          <a:xfrm>
            <a:off x="4884733" y="2542668"/>
            <a:ext cx="1583400" cy="2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 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Have robot draw over predetermined printed image 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maximum error (mm) between printed and drawn image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error ≤ 2 mm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31"/>
          <p:cNvSpPr txBox="1"/>
          <p:nvPr>
            <p:ph idx="4294967295" type="title"/>
          </p:nvPr>
        </p:nvSpPr>
        <p:spPr>
          <a:xfrm>
            <a:off x="4964319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</a:t>
            </a:r>
            <a:endParaRPr b="1"/>
          </a:p>
        </p:txBody>
      </p:sp>
      <p:sp>
        <p:nvSpPr>
          <p:cNvPr id="344" name="Google Shape;344;p31"/>
          <p:cNvSpPr/>
          <p:nvPr/>
        </p:nvSpPr>
        <p:spPr>
          <a:xfrm>
            <a:off x="6980050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1"/>
          <p:cNvSpPr/>
          <p:nvPr/>
        </p:nvSpPr>
        <p:spPr>
          <a:xfrm rot="5400000">
            <a:off x="71970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6" name="Google Shape;346;p31"/>
          <p:cNvSpPr txBox="1"/>
          <p:nvPr>
            <p:ph idx="4294967295" type="title"/>
          </p:nvPr>
        </p:nvSpPr>
        <p:spPr>
          <a:xfrm>
            <a:off x="7093608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Pen Orientation</a:t>
            </a:r>
            <a:endParaRPr b="1" sz="1200"/>
          </a:p>
        </p:txBody>
      </p:sp>
      <p:sp>
        <p:nvSpPr>
          <p:cNvPr id="347" name="Google Shape;347;p31"/>
          <p:cNvSpPr txBox="1"/>
          <p:nvPr>
            <p:ph idx="4294967295" type="body"/>
          </p:nvPr>
        </p:nvSpPr>
        <p:spPr>
          <a:xfrm>
            <a:off x="7093600" y="2542675"/>
            <a:ext cx="1583400" cy="21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 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Test roll, pitch, and yaw DOFs while drawing on flat surface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maximum roll, pitch, and yaw angles  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yaw ≅ 60°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pitch ≅ 60°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roll  = 360°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8" name="Google Shape;348;p31"/>
          <p:cNvSpPr txBox="1"/>
          <p:nvPr>
            <p:ph idx="4294967295" type="title"/>
          </p:nvPr>
        </p:nvSpPr>
        <p:spPr>
          <a:xfrm>
            <a:off x="7173220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</a:t>
            </a:r>
            <a:endParaRPr b="1"/>
          </a:p>
        </p:txBody>
      </p:sp>
      <p:sp>
        <p:nvSpPr>
          <p:cNvPr id="349" name="Google Shape;349;p31"/>
          <p:cNvSpPr/>
          <p:nvPr/>
        </p:nvSpPr>
        <p:spPr>
          <a:xfrm>
            <a:off x="2562300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1"/>
          <p:cNvSpPr/>
          <p:nvPr/>
        </p:nvSpPr>
        <p:spPr>
          <a:xfrm rot="5400000">
            <a:off x="27792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1" name="Google Shape;351;p31"/>
          <p:cNvSpPr txBox="1"/>
          <p:nvPr>
            <p:ph idx="4294967295" type="title"/>
          </p:nvPr>
        </p:nvSpPr>
        <p:spPr>
          <a:xfrm>
            <a:off x="2675858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Marker ID and Selection</a:t>
            </a:r>
            <a:endParaRPr b="1" sz="1200"/>
          </a:p>
        </p:txBody>
      </p:sp>
      <p:sp>
        <p:nvSpPr>
          <p:cNvPr id="352" name="Google Shape;352;p31"/>
          <p:cNvSpPr txBox="1"/>
          <p:nvPr>
            <p:ph idx="4294967295" type="body"/>
          </p:nvPr>
        </p:nvSpPr>
        <p:spPr>
          <a:xfrm>
            <a:off x="2675850" y="2542675"/>
            <a:ext cx="1583400" cy="21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Use external camera + CV model to pick out desired marker color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accuracy of selecting correct color marker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accuracy ≥ 90%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p31"/>
          <p:cNvSpPr txBox="1"/>
          <p:nvPr>
            <p:ph idx="4294967295" type="title"/>
          </p:nvPr>
        </p:nvSpPr>
        <p:spPr>
          <a:xfrm>
            <a:off x="2755420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endParaRPr b="1"/>
          </a:p>
        </p:txBody>
      </p:sp>
      <p:sp>
        <p:nvSpPr>
          <p:cNvPr id="354" name="Google Shape;354;p31"/>
          <p:cNvSpPr/>
          <p:nvPr/>
        </p:nvSpPr>
        <p:spPr>
          <a:xfrm>
            <a:off x="353425" y="1049550"/>
            <a:ext cx="1810500" cy="3739800"/>
          </a:xfrm>
          <a:prstGeom prst="roundRect">
            <a:avLst>
              <a:gd fmla="val 16667" name="adj"/>
            </a:avLst>
          </a:prstGeom>
          <a:solidFill>
            <a:srgbClr val="F7EBE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1"/>
          <p:cNvSpPr/>
          <p:nvPr/>
        </p:nvSpPr>
        <p:spPr>
          <a:xfrm rot="5400000">
            <a:off x="570358" y="1193532"/>
            <a:ext cx="5925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6" name="Google Shape;356;p31"/>
          <p:cNvSpPr txBox="1"/>
          <p:nvPr>
            <p:ph idx="4294967295" type="title"/>
          </p:nvPr>
        </p:nvSpPr>
        <p:spPr>
          <a:xfrm>
            <a:off x="466983" y="1903618"/>
            <a:ext cx="15834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/>
              <a:t>Object/Surface Calibration</a:t>
            </a:r>
            <a:endParaRPr b="1" sz="1200"/>
          </a:p>
        </p:txBody>
      </p:sp>
      <p:sp>
        <p:nvSpPr>
          <p:cNvPr id="357" name="Google Shape;357;p31"/>
          <p:cNvSpPr txBox="1"/>
          <p:nvPr>
            <p:ph idx="4294967295" type="body"/>
          </p:nvPr>
        </p:nvSpPr>
        <p:spPr>
          <a:xfrm>
            <a:off x="466975" y="2542626"/>
            <a:ext cx="1583400" cy="22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Procedure: </a:t>
            </a: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Use AprilTags (QR codes) and external camera for calibration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Metrics: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Calculate error (cm) between calculated origin and intended origin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Ideal error ≤ 2 mm</a:t>
            </a:r>
            <a:endParaRPr b="1"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31"/>
          <p:cNvSpPr txBox="1"/>
          <p:nvPr>
            <p:ph idx="4294967295" type="title"/>
          </p:nvPr>
        </p:nvSpPr>
        <p:spPr>
          <a:xfrm>
            <a:off x="546520" y="1217375"/>
            <a:ext cx="3807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</a:t>
            </a:r>
            <a:endParaRPr b="1"/>
          </a:p>
        </p:txBody>
      </p:sp>
      <p:pic>
        <p:nvPicPr>
          <p:cNvPr descr="Abstract Modern tech of Programming code screen developer. (Provided by Getty Images)" id="359" name="Google Shape;359;p31"/>
          <p:cNvPicPr preferRelativeResize="0"/>
          <p:nvPr/>
        </p:nvPicPr>
        <p:blipFill rotWithShape="1">
          <a:blip r:embed="rId3">
            <a:alphaModFix/>
          </a:blip>
          <a:srcRect b="46936" l="0" r="0" t="0"/>
          <a:stretch/>
        </p:blipFill>
        <p:spPr>
          <a:xfrm>
            <a:off x="4680175" y="71424"/>
            <a:ext cx="4110377" cy="912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4" name="Google Shape;364;p32"/>
          <p:cNvGraphicFramePr/>
          <p:nvPr/>
        </p:nvGraphicFramePr>
        <p:xfrm>
          <a:off x="661940" y="155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{4045723F-B235-4DF3-BAD3-1C2D1E888A55}</a:tableStyleId>
              </a:tblPr>
              <a:tblGrid>
                <a:gridCol w="2168125"/>
                <a:gridCol w="3595025"/>
                <a:gridCol w="2056950"/>
              </a:tblGrid>
              <a:tr h="7429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Tasks &amp; Division of Labor</a:t>
                      </a:r>
                      <a:endParaRPr b="1" sz="24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381000" marR="91425" marL="91425"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Owner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Workstream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Deliverables</a:t>
                      </a:r>
                      <a:endParaRPr b="1">
                        <a:solidFill>
                          <a:schemeClr val="accen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Jonathan Waller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Embedded / hardware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Arm, mug holder, gripper, controls; rotary stage later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Bryan Hong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Circuits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Power, drivers, sensor circuits, hardwired stop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Aaron Tang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Software / modeling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Mug alignment, curved SVG paths, kinematics, web UI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 three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Integration / tests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Mug drawing, placement and contact tests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95250" marR="76200" marL="76200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3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/>
          <p:nvPr/>
        </p:nvSpPr>
        <p:spPr>
          <a:xfrm>
            <a:off x="152400" y="152400"/>
            <a:ext cx="86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"/>
                <a:ea typeface="Nunito"/>
                <a:cs typeface="Nunito"/>
                <a:sym typeface="Nunito"/>
              </a:rPr>
              <a:t>Schedule &amp; Demonstration Milestones</a:t>
            </a:r>
            <a:endParaRPr b="1" sz="24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0" name="Google Shape;3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75" y="874775"/>
            <a:ext cx="8474259" cy="413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